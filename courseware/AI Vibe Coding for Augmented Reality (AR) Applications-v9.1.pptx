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471" r:id="rId22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Separate meshes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Sheet1!$A$2:$A$4</c:f>
              <c:strCache>
                <c:ptCount val="3"/>
                <c:pt idx="0">
                  <c:v>3 objects</c:v>
                </c:pt>
                <c:pt idx="1">
                  <c:v>12 objects</c:v>
                </c:pt>
                <c:pt idx="2">
                  <c:v>36 objects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</c:v>
                </c:pt>
                <c:pt idx="1">
                  <c:v>36</c:v>
                </c:pt>
                <c:pt idx="2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Instanced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Sheet1!$A$2:$A$4</c:f>
              <c:strCache>
                <c:ptCount val="3"/>
                <c:pt idx="0">
                  <c:v>3 objects</c:v>
                </c:pt>
                <c:pt idx="1">
                  <c:v>12 objects</c:v>
                </c:pt>
                <c:pt idx="2">
                  <c:v>36 objects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3</c:v>
                </c:pt>
                <c:pt idx="2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Frame budget ms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60 Hz</c:v>
                </c:pt>
                <c:pt idx="1">
                  <c:v>72 Hz</c:v>
                </c:pt>
                <c:pt idx="2">
                  <c:v>90 Hz</c:v>
                </c:pt>
                <c:pt idx="3">
                  <c:v>120 Hz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16.67</c:v>
                </c:pt>
                <c:pt idx="1">
                  <c:v>13.89</c:v>
                </c:pt>
                <c:pt idx="2">
                  <c:v>11.11</c:v>
                </c:pt>
                <c:pt idx="3">
                  <c:v>8.33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FPS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12 objects</c:v>
                </c:pt>
                <c:pt idx="2">
                  <c:v>36 objects</c:v>
                </c:pt>
                <c:pt idx="3">
                  <c:v>Optimised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92</c:v>
                </c:pt>
                <c:pt idx="2">
                  <c:v>54</c:v>
                </c:pt>
                <c:pt idx="3">
                  <c:v>86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s.tertiaryinfotech.com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arvr-playground/" TargetMode="Externa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-vibe-coding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0"/>
            <a:ext cx="69311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74920" y="0"/>
            <a:ext cx="64008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2920"/>
            <a:ext cx="749808" cy="749808"/>
          </a:xfrm>
          <a:prstGeom prst="rect">
            <a:avLst/>
          </a:prstGeom>
        </p:spPr>
      </p:pic>
      <p:pic>
        <p:nvPicPr>
          <p:cNvPr id="6" name="Picture 5" descr="singapore-workforce-skills-qualification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530352"/>
            <a:ext cx="1627632" cy="740664"/>
          </a:xfrm>
          <a:prstGeom prst="rect">
            <a:avLst/>
          </a:prstGeom>
        </p:spPr>
      </p:pic>
      <p:pic>
        <p:nvPicPr>
          <p:cNvPr id="7" name="Picture 6" descr="ar-vibe-course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621792"/>
            <a:ext cx="438912" cy="438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" y="1481328"/>
            <a:ext cx="4206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SLIDES · WSQ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874519"/>
            <a:ext cx="4572000" cy="20574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61B26"/>
                </a:solidFill>
                <a:latin typeface="Arial"/>
              </a:rPr>
              <a:t>AI Vibe Coding for Augmented Reality (AR) Applications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096512"/>
            <a:ext cx="19202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4407408"/>
            <a:ext cx="42976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WSQ Course Code: TGS-2022017519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818888"/>
            <a:ext cx="43891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Tertiary Infotech Academy Pte Ltd ·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221224"/>
            <a:ext cx="43891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v9.1 · 12 September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669280"/>
            <a:ext cx="4343400" cy="5303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Build spatial experiences from natural language—then inspect the contract, runtime and evidence.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transition spd="fast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MECHANISM · ANNOTATED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Spatial computing, made inspectable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-anchors-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0784"/>
            <a:ext cx="7635240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03920" y="1700784"/>
            <a:ext cx="2990088" cy="1143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03920" y="1700784"/>
            <a:ext cx="82296" cy="1143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23376" y="188366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23376" y="188366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53728" y="1847088"/>
            <a:ext cx="209397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Detected plane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9952" y="2395728"/>
            <a:ext cx="2496312" cy="30175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Real surface geometry becomes the placement constraint.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3054096"/>
            <a:ext cx="2990088" cy="1143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03920" y="3054096"/>
            <a:ext cx="82296" cy="1143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723376" y="32369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23376" y="32369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728" y="3200400"/>
            <a:ext cx="209397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Session anchor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2" y="3749039"/>
            <a:ext cx="2496312" cy="30175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Virtual content follows a tracked pose for the active session.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4407408"/>
            <a:ext cx="2990088" cy="1143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3920" y="4407408"/>
            <a:ext cx="82296" cy="1143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23376" y="4590288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23376" y="459028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4553712"/>
            <a:ext cx="209397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Interaction ray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59952" y="5102352"/>
            <a:ext cx="2496312" cy="30175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becomes a ray, nearest hit and visible feedback.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transition spd="fast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880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Scan and submit the SSG QR code at the start of the morning block.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719072"/>
            <a:ext cx="82296" cy="2880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13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Repeat attendance after lunch when the trainer displays the live code.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719072"/>
            <a:ext cx="82296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Submit the assessment attendance event before the papers begin.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87968" y="1719072"/>
            <a:ext cx="82296" cy="28803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74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Minimum 75% attendance and competent assessment outcome apply.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983480"/>
            <a:ext cx="1083564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102352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COURSE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093208"/>
            <a:ext cx="8851392" cy="7955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Attendance is an official digital record; use the live QR displayed by the trainer.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transition spd="fast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GENERAL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907792" cy="42793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07592" y="2103120"/>
            <a:ext cx="1609344" cy="1609344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7592" y="2103120"/>
            <a:ext cx="1609344" cy="16093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2304288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GENERAL TRAINER
PROFILE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846320"/>
            <a:ext cx="2249424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before delivery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13632" y="1719072"/>
            <a:ext cx="3401568" cy="179222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13632" y="1719072"/>
            <a:ext cx="82296" cy="179222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7952" y="1947672"/>
            <a:ext cx="2816352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7952" y="2350008"/>
            <a:ext cx="2798064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54112" y="1719072"/>
            <a:ext cx="3401568" cy="179222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54112" y="1719072"/>
            <a:ext cx="82296" cy="17922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8432" y="1947672"/>
            <a:ext cx="2816352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8432" y="2350008"/>
            <a:ext cx="2798064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13632" y="3931920"/>
            <a:ext cx="3401568" cy="179222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13632" y="3931920"/>
            <a:ext cx="82296" cy="17922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87952" y="4160520"/>
            <a:ext cx="2816352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EXPERTISE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87952" y="4562856"/>
            <a:ext cx="2798064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54112" y="3931920"/>
            <a:ext cx="3401568" cy="179222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54112" y="3931920"/>
            <a:ext cx="82296" cy="1792224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2" y="4160520"/>
            <a:ext cx="2816352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6845B"/>
                </a:solidFill>
                <a:latin typeface="Arial"/>
              </a:rPr>
              <a:t>EXPERIENCE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2" y="4562856"/>
            <a:ext cx="2798064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transition spd="fast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DR ALFRED 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907792" cy="42793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07592" y="2103120"/>
            <a:ext cx="1609344" cy="16093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7592" y="2103120"/>
            <a:ext cx="1609344" cy="16093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2304288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846320"/>
            <a:ext cx="2249424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13632" y="1719072"/>
            <a:ext cx="3401568" cy="179222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13632" y="1719072"/>
            <a:ext cx="82296" cy="179222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7952" y="1947672"/>
            <a:ext cx="2816352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7952" y="2350008"/>
            <a:ext cx="2798064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Principal Trainer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54112" y="1719072"/>
            <a:ext cx="3401568" cy="179222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54112" y="1719072"/>
            <a:ext cx="82296" cy="17922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8432" y="1947672"/>
            <a:ext cx="2816352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8432" y="2350008"/>
            <a:ext cx="2798064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PhD · ACTA · DACE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13632" y="3931920"/>
            <a:ext cx="3401568" cy="179222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13632" y="3931920"/>
            <a:ext cx="82296" cy="17922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87952" y="4160520"/>
            <a:ext cx="2816352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TECHNICAL FOCUS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87952" y="4562856"/>
            <a:ext cx="2798064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AI-assisted development and intelligent systems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54112" y="3931920"/>
            <a:ext cx="3401568" cy="179222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54112" y="3931920"/>
            <a:ext cx="82296" cy="1792224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2" y="4160520"/>
            <a:ext cx="2816352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6845B"/>
                </a:solidFill>
                <a:latin typeface="Arial"/>
              </a:rPr>
              <a:t>FACILITATION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2" y="4562856"/>
            <a:ext cx="2798064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Mechanism-led demonstrations and supervised labs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transition spd="fast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LEARNER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880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What work or learning context brings you here?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719072"/>
            <a:ext cx="82296" cy="2880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13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What 3D, web or programming experience do you already have?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719072"/>
            <a:ext cx="82296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Which laptop, browser and optional XR device will you use?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87968" y="1719072"/>
            <a:ext cx="82296" cy="28803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74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OUTCOME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Which AR/VR workflow do you want to prototype?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transition spd="fast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SAFE AND PRODUCTIVE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487168" cy="1965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19659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PHYSICAL SAFETY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14015"/>
            <a:ext cx="1993392" cy="11247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Clear the play area before immersive testing; remain aware of people and obstacles.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19072"/>
            <a:ext cx="2487168" cy="1965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719072"/>
            <a:ext cx="82296" cy="19659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13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 SAFETY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14015"/>
            <a:ext cx="1993392" cy="11247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Never paste credentials, learner data or private client material into a coding agent.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719072"/>
            <a:ext cx="2487168" cy="1965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719072"/>
            <a:ext cx="82296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CODE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14015"/>
            <a:ext cx="1993392" cy="11247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Inspect every generated diff and preserve a rollback path.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1719072"/>
            <a:ext cx="2487168" cy="1965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87968" y="1719072"/>
            <a:ext cx="82296" cy="19659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74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414015"/>
            <a:ext cx="1993392" cy="11247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build is not proof; retain runtime state, checks and test output.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04487"/>
            <a:ext cx="2487168" cy="1965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904487"/>
            <a:ext cx="82296" cy="1965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4087368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08736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08176" y="4050791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PARTICIPATION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599431"/>
            <a:ext cx="1993392" cy="11247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Ask, test and explain—no question is too small.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01568" y="3904487"/>
            <a:ext cx="2487168" cy="1965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01568" y="3904487"/>
            <a:ext cx="82296" cy="19659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21024" y="4087368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21024" y="408736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51376" y="4050791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DEVICES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0" y="4599431"/>
            <a:ext cx="1993392" cy="11247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Use silent mode; return from breaks on time.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44768" y="3904487"/>
            <a:ext cx="2487168" cy="1965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44768" y="3904487"/>
            <a:ext cx="82296" cy="19659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64224" y="4087368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408736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94576" y="4050791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PAIR REVIEW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4599431"/>
            <a:ext cx="1993392" cy="11247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Challenge assumptions respectfully and point to evidence.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887968" y="3904487"/>
            <a:ext cx="2487168" cy="1965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887968" y="3904487"/>
            <a:ext cx="82296" cy="19659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107424" y="4087368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07424" y="408736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37776" y="4050791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ATTENDANCE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99431"/>
            <a:ext cx="1993392" cy="11247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Minimum 75% attendance is required.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transition spd="fast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COURSE ADMIN · AUTHENTIC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7452360" cy="4370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7452360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1883664"/>
            <a:ext cx="100584" cy="10058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15568" y="1883664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35024" y="1883664"/>
            <a:ext cx="100584" cy="10058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755648" y="1819656"/>
            <a:ext cx="59436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01952" y="1865376"/>
            <a:ext cx="56235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542032"/>
            <a:ext cx="66294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Course materials are linked from the matching LMS course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310128"/>
            <a:ext cx="6583680" cy="22128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Open the exact TGS-2022017519 course page.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Confirm current version before downloading.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Keep assessment answer keys trainer-only.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1737360"/>
            <a:ext cx="3063240" cy="129844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30768" y="1737360"/>
            <a:ext cx="82296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502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50224" y="192024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1883664"/>
            <a:ext cx="216712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432304"/>
            <a:ext cx="2569464" cy="45719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Open the exact TGS-2022017519 course page.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145536"/>
            <a:ext cx="3063240" cy="129844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30768" y="3145536"/>
            <a:ext cx="82296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50224" y="332841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50224" y="332841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3291840"/>
            <a:ext cx="216712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840480"/>
            <a:ext cx="2569464" cy="45719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Confirm current version before downloading.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30768" y="4553712"/>
            <a:ext cx="3063240" cy="129844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30768" y="4553712"/>
            <a:ext cx="82296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50224" y="473659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50224" y="473659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0576" y="4700016"/>
            <a:ext cx="216712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5248656"/>
            <a:ext cx="2569464" cy="45719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Keep assessment answer keys trainer-only.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transition spd="fast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DAY 1 · REQUIREMENTS TO AR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Two-day lesson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880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09:30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Course/admin, learning outcomes and evidence boundaries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719072"/>
            <a:ext cx="82296" cy="2880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13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10:15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Topic 1 mechanisms + Labs 01–02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719072"/>
            <a:ext cx="82296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13:30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Lab 03 and Topic 2 scene/runtime mechanisms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87968" y="1719072"/>
            <a:ext cx="82296" cy="28803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74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15:45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Labs 04–05, runtime evidence and recap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983480"/>
            <a:ext cx="1083564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102352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COURSE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093208"/>
            <a:ext cx="8851392" cy="7955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Detailed procedures live in the Learner Guide and individual lab folders.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transition spd="fast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DAY 2 · INTERACTION TO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Two-day lesson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880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09:30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Lab 06 and interaction diagnostics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719072"/>
            <a:ext cx="82296" cy="2880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13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11:30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Topic 3 AR/VR boundaries + Lab 07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719072"/>
            <a:ext cx="82296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13:30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Performance, accessibility and Lab 08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87968" y="1719072"/>
            <a:ext cx="82296" cy="28803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74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15:30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Assessment briefing · WA 60 min · PP 90 min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983480"/>
            <a:ext cx="1083564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102352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COURSE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093208"/>
            <a:ext cx="8851392" cy="7955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current Drive papers total 150 minutes; paper-level timings are retained.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transition spd="fast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AUGMENTED REALITY APPLICATION · PRE-CTS-3001-1.1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mapping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880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K1–K3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Storyboard · spatial UI · equipment specifications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719072"/>
            <a:ext cx="82296" cy="2880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13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K4–K6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Work procedure · AR runtime · real-world overlay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719072"/>
            <a:ext cx="82296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Technical differences between VR and 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87968" y="1719072"/>
            <a:ext cx="82296" cy="28803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74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A1–A4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Translate · storyboard · review · advise adjustments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983480"/>
            <a:ext cx="1083564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102352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COURSE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093208"/>
            <a:ext cx="8851392" cy="7955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Every code appears in the labs, guide and assessment mapping.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transition spd="fast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COURSE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3441192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880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65376"/>
            <a:ext cx="25450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14015"/>
            <a:ext cx="2947416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Translate specifications and write storyboards for AR applications using spatial user-interface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1" y="1719072"/>
            <a:ext cx="3441192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5591" y="1719072"/>
            <a:ext cx="82296" cy="2880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5048" y="190195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1865376"/>
            <a:ext cx="25450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1624" y="2414015"/>
            <a:ext cx="2947416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Apply AR working principles to create procedures and review AR runtimes for usability and clarity.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2816" y="1719072"/>
            <a:ext cx="3441192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1719072"/>
            <a:ext cx="82296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72272" y="190195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2272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2624" y="1865376"/>
            <a:ext cx="25450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7" y="2414015"/>
            <a:ext cx="2947416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Overlay virtual objects on the real world, distinguish AR from VR, and advise developers on effective adjustments.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983480"/>
            <a:ext cx="1083564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102352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COURSE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20" y="5093208"/>
            <a:ext cx="8851392" cy="7955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Success means producing inspectable AR/VR contracts, runtime evidence and developer advice—not prompt text alone.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transition spd="fast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8 CONNECTED LABS · LIVE PLAYGROUND + LOCAL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487168" cy="1965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19659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14015"/>
            <a:ext cx="1993392" cy="11247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Scene Brief and Prompt Contract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19072"/>
            <a:ext cx="2487168" cy="1965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719072"/>
            <a:ext cx="82296" cy="19659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13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14015"/>
            <a:ext cx="1993392" cy="11247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Storyboard and Spatial UI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719072"/>
            <a:ext cx="2487168" cy="1965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719072"/>
            <a:ext cx="82296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14015"/>
            <a:ext cx="1993392" cy="11247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WebXR Capability and Equipment Gate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1719072"/>
            <a:ext cx="2487168" cy="1965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87968" y="1719072"/>
            <a:ext cx="82296" cy="19659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74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414015"/>
            <a:ext cx="1993392" cy="11247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Scene Graph, Lighting and Animation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04487"/>
            <a:ext cx="2487168" cy="1965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904487"/>
            <a:ext cx="82296" cy="1965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4087368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08736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08176" y="4050791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599431"/>
            <a:ext cx="1993392" cy="11247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Plane Detection, Hit Test and Anchors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01568" y="3904487"/>
            <a:ext cx="2487168" cy="1965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01568" y="3904487"/>
            <a:ext cx="82296" cy="19659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21024" y="4087368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21024" y="408736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51376" y="4050791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0" y="4599431"/>
            <a:ext cx="1993392" cy="11247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Raycast, Touch and Spatial Feedback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44768" y="3904487"/>
            <a:ext cx="2487168" cy="1965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44768" y="3904487"/>
            <a:ext cx="82296" cy="19659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64224" y="4087368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408736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94576" y="4050791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07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4599431"/>
            <a:ext cx="1993392" cy="11247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Immersive VR, Controllers and Comfort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887968" y="3904487"/>
            <a:ext cx="2487168" cy="1965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887968" y="3904487"/>
            <a:ext cx="82296" cy="19659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107424" y="4087368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07424" y="408736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37776" y="4050791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99431"/>
            <a:ext cx="1993392" cy="11247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Runtime Review, Optimisation and Handover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transition spd="fast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ASSESSMENT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880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INDIVIDUAL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Complete both instruments independently.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719072"/>
            <a:ext cx="82296" cy="2880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13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Use slides, Learner Guide and approved class materials.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719072"/>
            <a:ext cx="82296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Complete the document provided and upload through the LMS.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87968" y="1719072"/>
            <a:ext cx="82296" cy="28803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74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PP answers cite lab artifacts and runtime review evidence.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983480"/>
            <a:ext cx="1083564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102352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COURSE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093208"/>
            <a:ext cx="8851392" cy="7955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Briefing occurs before the assessment begins.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transition spd="fast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WA + 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880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 · 60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7 open-ended questions covering K1–K7.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719072"/>
            <a:ext cx="82296" cy="2880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13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PP · 90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3 connected tasks: A1+A2, A3, and A4.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719072"/>
            <a:ext cx="82296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COMPETENCY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Every required knowledge and ability criterion must be competent.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87968" y="1719072"/>
            <a:ext cx="82296" cy="28803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74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APPEAL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Discuss the decision, record intent and follow the documented appeal process.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983480"/>
            <a:ext cx="1083564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102352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COURSE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093208"/>
            <a:ext cx="8851392" cy="7955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current papers total 150 minutes; this conflicts with the generic 2-hour course-page label and is retained to mirror the approved paper-level evidence.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transition spd="fast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COURSE ADMIN · AUTHENTIC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Practice and revision portal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7452360" cy="4370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7452360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1883664"/>
            <a:ext cx="100584" cy="10058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15568" y="1883664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35024" y="1883664"/>
            <a:ext cx="100584" cy="10058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755648" y="1819656"/>
            <a:ext cx="59436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01952" y="1865376"/>
            <a:ext cx="56235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  <a:hlinkClick r:id="rId2"/>
              </a:rPr>
              <a:t>https://exams.tertiaryinfotech.com/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542032"/>
            <a:ext cx="662940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Tertiary Exams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310128"/>
            <a:ext cx="6583680" cy="22128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Use the course self-checks and lab verifiers for this WSQ course.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The public exam portal currently has no verified AR course-specific listing.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161B26"/>
                </a:solidFill>
                <a:latin typeface="Arial"/>
              </a:rPr>
              <a:t>•  Do not invent or substitute an unrelated certification exam.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1737360"/>
            <a:ext cx="3063240" cy="129844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30768" y="1737360"/>
            <a:ext cx="82296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502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50224" y="192024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1883664"/>
            <a:ext cx="216712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432304"/>
            <a:ext cx="2569464" cy="45719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Use the course self-checks and lab verifiers for this WSQ course.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145536"/>
            <a:ext cx="3063240" cy="129844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30768" y="3145536"/>
            <a:ext cx="82296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50224" y="332841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50224" y="332841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3291840"/>
            <a:ext cx="216712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840480"/>
            <a:ext cx="2569464" cy="45719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public exam portal currently has no verified AR course-specific listing.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30768" y="4553712"/>
            <a:ext cx="3063240" cy="129844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30768" y="4553712"/>
            <a:ext cx="82296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50224" y="473659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50224" y="473659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0576" y="4700016"/>
            <a:ext cx="216712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5248656"/>
            <a:ext cx="2569464" cy="45719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 not invent or substitute an unrelated certification exam.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transition spd="fast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COURSE ADMIN · AUTHENTIC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Try the live AR/VR Playground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7452360" cy="4370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7452360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1883664"/>
            <a:ext cx="100584" cy="10058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15568" y="1883664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35024" y="1883664"/>
            <a:ext cx="100584" cy="10058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755648" y="1819656"/>
            <a:ext cx="59436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01952" y="1865376"/>
            <a:ext cx="5623560" cy="1463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  <a:hlinkClick r:id="rId2"/>
              </a:rPr>
              <a:t>https://alfredang.github.io/arvr-playground/</a:t>
            </a:r>
          </a:p>
        </p:txBody>
      </p:sp>
      <p:pic>
        <p:nvPicPr>
          <p:cNvPr id="13" name="Picture 12" descr="app-preview-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395728"/>
            <a:ext cx="3054096" cy="3310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97680" y="2514600"/>
            <a:ext cx="3401568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Prompt → contract → runtime → checks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182112"/>
            <a:ext cx="3401568" cy="2103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Open the live static HTML/CSS/JavaScript playground—no install required.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Desktop preview works when immersive WebXR is unsupported.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Use the localhost source when a lab asks you to edit code.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30768" y="1737360"/>
            <a:ext cx="3063240" cy="129844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0768" y="1737360"/>
            <a:ext cx="82296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502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50224" y="192024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1883664"/>
            <a:ext cx="216712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432304"/>
            <a:ext cx="2569464" cy="45719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Open the live static HTML/CSS/JavaScript playground—no install required.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145536"/>
            <a:ext cx="3063240" cy="129844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30768" y="3145536"/>
            <a:ext cx="82296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50224" y="332841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50224" y="332841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3291840"/>
            <a:ext cx="216712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840480"/>
            <a:ext cx="2569464" cy="45719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Desktop preview works when immersive WebXR is unsupported.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30768" y="4553712"/>
            <a:ext cx="3063240" cy="129844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30768" y="4553712"/>
            <a:ext cx="82296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50224" y="473659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73659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576" y="4700016"/>
            <a:ext cx="2167128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5248656"/>
            <a:ext cx="2569464" cy="45719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Use the localhost source when a lab asks you to edit code.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transition spd="fast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868680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1 · K1 · K2 · K3 · A1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578608"/>
            <a:ext cx="896112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AR User Interface Design and Storyboarding with AI Vibe 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840480"/>
            <a:ext cx="886968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Requirements · prompt contracts · storyboard states · spatial UI · capability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29800" y="658368"/>
            <a:ext cx="14630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000" b="1">
                <a:solidFill>
                  <a:srgbClr val="D7E0EA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transition spd="med">
    <p:push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Requirement to scene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Work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Equipment facts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Spatial content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Acceptance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Every request becomes explicit targetMode, tracking, metric scale, content, interaction, performance and accessibility fields.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transition spd="fast">
    <p:fade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Requirement to scene contract: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const scene = parsePrompt(requirement, modeOverride);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A reviewer can point from each requirement to one JSON field and one visible runtime state.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Work task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Equipment facts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Spatial content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Acceptance evidence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reviewer can point from each requirement to one JSON field and one visible runtime state.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transition spd="fast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Requirement to scene contract: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vague prompt produces an attractive demo that cannot be assessed or safely handed over.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Require a versioned schema and reject any generated change that cannot be traced to one field.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reviewer can point from each requirement to one JSON field and one visible runtime state.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transition spd="fast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boundary for coding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Classify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Remove secrets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Minimise context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Inspect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Prompts may include public specifications and local source excerpts; credentials, learner records and proprietary data remain outside the agent context.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transition spd="fast">
    <p:fade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boundary for coding agents: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git diff -- webapp/src &amp;&amp; npm test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The prompt and diff contain no secret pattern, personal data or unrelated file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Classify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Remove secrets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Minimise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Inspect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prompt and diff contain no secret pattern, personal data or unrelated file change.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transition spd="fast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boundary for coding agents: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prompt includes an API key or personal record and the resulting transcript becomes a new disclosure surface.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Use `.env.example`, synthetic data and named-file diffs; scan before commit.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prompt and diff contain no secret pattern, personal data or unrelated file change.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transition spd="fast">
    <p:fade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Prompt contract anatomy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Role and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Invariants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Requested delta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Verification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bounded coding prompt states the repository, files to inspect, behaviour to preserve, smallest intended change and exact tests.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transition spd="fast">
    <p:fade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Prompt contract anatomy: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Read first. Do not edit yet. Return plan, risks, files and tests.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The response names unverified assumptions and the commands actually executed.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Role and 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Invariants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Requested delta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Verification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response names unverified assumptions and the commands actually executed.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transition spd="fast">
    <p:fade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Prompt contract anatomy: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agent rewrites working code, changes dependencies and claims success from syntax alone.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Separate plan, implementation, critique and verification prompts; inspect the diff after each.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response names unverified assumptions and the commands actually executed.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transition spd="fast">
    <p:fade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Supervised vibe-coding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Review and retain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Human acceptance sits between every phase; generated code is a proposal until its behaviour and evidence pass.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transition spd="fast">
    <p:fade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Supervised vibe-coding loop: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npm audit --audit-level=moderate &amp;&amp; npm test &amp;&amp; npm run build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Plan matches diff; tests match acceptance criteria; runtime state matches the contract.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Patch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Review and retain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Plan matches diff; tests match acceptance criteria; runtime state matches the contract.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transition spd="fast">
    <p:fade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Supervised vibe-coding loop: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green build hides a wrong spatial contract, inaccessible control or unsupported-device dead end.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Combine automated tests with runtime checks, console/network evidence and device capability truth.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Plan matches diff; tests match acceptance criteria; runtime state matches the contract.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transition spd="fast">
    <p:fade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Storyboard as a state machine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Orient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Confirm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Each frame names system state, user action and observable evidence—not merely a picture.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transition spd="fast">
    <p:fade/>
  </p:transition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Storyboard as a state machine: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[{state:'Entry'}, {state:'Orient'}, {state:'Act'}, {state:'Confirm'}]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Every transition has a trigger and visible result that can be tested.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Entry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Orient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Confirm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Every transition has a trigger and visible result that can be tested.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transition spd="fast">
    <p:fade/>
  </p:transition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Storyboard as a state machine: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Four attractive screens omit plane detection, selection feedback or completion state.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Make transitions conditional: unsupported → fallback; no plane → scan; hit → select; complete → confirm.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Every transition has a trigger and visible result that can be tested.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transition spd="fast">
    <p:fade/>
  </p:transition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1 · HANDS-ON LAB · 60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01 · Scene Brief and Prompt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10835640" cy="10789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10222992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Translate a workplace requirement and equipment specification into a constrained, testable WebXR scene contract.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6736" y="3410712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6736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Brief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14016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07792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38144" y="3410712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8144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Prompt contract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35424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29200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59552" y="3410712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Local runtime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56832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150608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80960" y="3410712"/>
            <a:ext cx="566928" cy="566928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0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624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78240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272016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02368" y="3410712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02368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Verifier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029200"/>
            <a:ext cx="10835640" cy="10241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148072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138928"/>
            <a:ext cx="885139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Scene JSON · runtime evidence · review artifact · PASS Lab 01. Full detailed procedure: labs/lab-01-scene-brief-and-prompt-contract/README.md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transition spd="fast">
    <p:fade/>
  </p:transition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01 · VIBE CODING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01: prompt-to-runtime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20240"/>
            <a:ext cx="82296" cy="24505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1031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 existing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Map ownership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9689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5292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1920240"/>
            <a:ext cx="82296" cy="2450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72384" y="210312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7238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 invariants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Preserve modes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9145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4748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7488" y="1920240"/>
            <a:ext cx="82296" cy="24505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66944" y="210312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6694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729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Request bounded delta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Smallest diff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986016" y="3145536"/>
            <a:ext cx="210311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242047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42047" y="1920240"/>
            <a:ext cx="82296" cy="245059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61503" y="21031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1503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5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Audit/test/build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8057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43660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6608" y="1920240"/>
            <a:ext cx="82296" cy="24505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656064" y="210312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5606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641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Report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Limits + rollback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901184"/>
            <a:ext cx="10835640" cy="10241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020056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GUARDRAIL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5010912"/>
            <a:ext cx="885139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Generated code remains a proposal until the JSON contract, runtime state and verifier agree.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transition spd="fast">
    <p:fade/>
  </p:transition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01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01: technical excerpt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6629400" cy="420624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6080760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7EAFF"/>
                </a:solidFill>
                <a:latin typeface="Consolas"/>
              </a:rPr>
              <a:t>{
  "targetMode": "ar",
  "tracking": {
    "plane": "horizontal",
    "placement": "hit-test",
    "anchorPersistence": "session"
  },
  "content": {
    "subject": "turbine",
    "instances": 3,
    "callouts": 3,
    "scaleMetres": 0.65
  },
  "performance": {
    "targetFps": 60,
    "drawCallBudget": 40,
    "triangleBudget": 80000
  }
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73736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737360"/>
            <a:ext cx="82296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18119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19" y="192024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86537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2872" y="182880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schema is ar-vr-vibe-scene/v1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69748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2697480"/>
            <a:ext cx="82296" cy="8046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18119" y="2880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19" y="288036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82549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2872" y="278892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target mode is 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365760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35240" y="3657600"/>
            <a:ext cx="82296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18119" y="384048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19" y="384048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785615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3749039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subject is turbine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461772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35240" y="4617720"/>
            <a:ext cx="82296" cy="80467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818119" y="480060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18119" y="480060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74573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470916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three callouts are declared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504688"/>
            <a:ext cx="10835640" cy="61264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623559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614416"/>
            <a:ext cx="8851392" cy="4480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node labs/lab-01-scene-brief-and-prompt-contract/verify.mjs → PASS Lab 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transition spd="fast">
    <p:fade/>
  </p:transition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01 · VERIFY /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01: acceptance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pp-preview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19072"/>
            <a:ext cx="3931920" cy="4251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892040" y="1719072"/>
            <a:ext cx="3182112" cy="4251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30368" y="2011680"/>
            <a:ext cx="24688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PASS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542032"/>
            <a:ext cx="2487168" cy="2697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schema is ar-vr-vibe-scene/v1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target mode is AR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subject is turbine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three callouts are declared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719072"/>
            <a:ext cx="3172968" cy="42519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8" y="2011680"/>
            <a:ext cx="24688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8" y="2542032"/>
            <a:ext cx="2487168" cy="2697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If npm is missing, install the current Node.js LTS release and reopen Terminal.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If the viewport is blank, reload once and check the browser console for WebGL errors.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If the inferred mode is wrong, make `AR` explicit or choose the AR override.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transition spd="fast">
    <p:fade/>
  </p:transition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World-space versus screen-space UI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Camera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World anchor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Screen overlay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Feedback channel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World-space labels move with an object; screen-space controls remain stable relative to the viewport.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transition spd="fast">
    <p:fade/>
  </p:transition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World-space versus screen-space UI: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label.lookAt(camera.position);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Rotate the camera and verify labels retain context while controls remain reachable.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Camera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World anchor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Screen overlay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Feedback channel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Rotate the camera and verify labels retain context while controls remain reachable.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transition spd="fast">
    <p:fade/>
  </p:transition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World-space versus screen-space UI: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critical control drifts out of reach or a label occludes the real hazard it is meant to explain.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Choose the coordinate space from the information lifecycle; keep safety actions screen-stable.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Rotate the camera and verify labels retain context while controls remain reachable.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transition spd="fast">
    <p:fade/>
  </p:transition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Angular size and viewing distance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Physical height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Viewing distance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Visual angle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Readable decision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Approximate angular size in radians as height ÷ distance for small angles; increasing distance halves apparent size.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transition spd="fast">
    <p:fade/>
  </p:transition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Angular size and viewing distance: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angleRad = labelHeightMetres / distanceMetres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A 4 cm label at 1 m produces about 0.04 rad (2.3°) and remains within the tested range.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Physical height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Viewing distance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Visual angle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Readable decision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4 cm label at 1 m produces about 0.04 rad (2.3°) and remains within the tested range.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transition spd="fast">
    <p:fade/>
  </p:transition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Angular size and viewing distance: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label that looks readable on a laptop becomes illegible at arm's length in 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Test at minimum/typical/maximum distance and set scale or distance constraints in the contract.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4 cm label at 1 m produces about 0.04 rad (2.3°) and remains within the tested range.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transition spd="fast">
    <p:fade/>
  </p:transition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Contrast over a live camera feed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Sample background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Measure luminance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Select surface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Retest in motion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Camera luminance changes continuously; a label needs an opaque/semi-opaque plate or outline, not a fixed text colour alone.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transition spd="fast">
    <p:fade/>
  </p:transition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Contrast over a live camera feed: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material.depthTest = false; labelBackdrop.opacity = 0.86;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Labels remain readable over light and dark backgrounds without colour alone.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Sample background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Measure luminance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Select surface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Retest in motion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Labels remain readable over light and dark backgrounds without colour alone.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transition spd="fast">
    <p:fade/>
  </p:transition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Contrast over a live camera feed: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White text disappears over a bright wall; dark text disappears over machinery.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Use a high-contrast plate, redundant icon/shape cues and real-environment testing.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Labels remain readable over light and dark backgrounds without colour alone.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transition spd="fast">
    <p:fade/>
  </p:transition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Depth ordering and occlusion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Real geometry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Virtual depth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Depth 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Visibility decision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depth buffer orders virtual fragments; real-world occlusion additionally requires depth/mesh data when supported.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transition spd="fast">
    <p:fade/>
  </p:transition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Depth ordering and occlusion: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material.depthTest = true; material.depthWrite = true;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Near virtual surfaces occlude far ones; unsupported real-depth does not produce false claims.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Real geometry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Virtual depth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Depth test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Visibility decision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Near virtual surfaces occlude far ones; unsupported real-depth does not produce false claims.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transition spd="fast">
    <p:fade/>
  </p:transition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Depth ordering and occlusion: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virtual part draws through another object or hides the physical control surface.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Declare the occlusion assumption and provide a non-occluding fallback when environment depth is unavailable.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Near virtual surfaces occlude far ones; unsupported real-depth does not produce false claims.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transition spd="fast">
    <p:fade/>
  </p:transition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Reachability and target bounds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Input ray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Target collider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Nearest hit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Feedback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Interaction uses a ray origin/direction and ordered intersections; visible size and collider size may differ.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transition spd="fast">
    <p:fade/>
  </p:transition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Reachability and target bounds: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const hit = raycaster.intersectObjects(selectables, true)[0];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Three target distances return one nearest valid hit; empty space returns a visible no-hit state.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Input ray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Target collider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Nearest hit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Feedback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Three target distances return one nearest valid hit; empty space returns a visible no-hit state.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transition spd="fast">
    <p:fade/>
  </p:transition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Reachability and target bounds: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visible object is selectable only in a tiny area or the far object wins through an overlapping target.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Use forgiving invisible hit geometry, nearest-valid-hit rules and immediate feedback.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Three target distances return one nearest valid hit; empty space returns a visible no-hit state.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transition spd="fast">
    <p:fade/>
  </p:transition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1 · HANDS-ON LAB · 75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02 · Storyboard and Spatial UI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10835640" cy="10789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10222992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Convert an AR user journey into four observable states and apply readable, reachable spatial UI rules.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6736" y="3410712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6736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Brief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14016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07792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38144" y="3410712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8144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Prompt contract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35424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29200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59552" y="3410712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Local runtime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56832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150608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80960" y="3410712"/>
            <a:ext cx="566928" cy="566928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0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624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78240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272016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02368" y="3410712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02368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Verifier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029200"/>
            <a:ext cx="10835640" cy="10241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148072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138928"/>
            <a:ext cx="885139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Scene JSON · runtime evidence · review artifact · PASS Lab 02. Full detailed procedure: labs/lab-02-storyboard-and-spatial-ui/README.md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transition spd="fast">
    <p:fade/>
  </p:transition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02 · VIBE CODING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02: prompt-to-runtime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20240"/>
            <a:ext cx="82296" cy="24505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1031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 existing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Map ownership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9689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5292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1920240"/>
            <a:ext cx="82296" cy="2450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72384" y="210312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7238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 invariants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Preserve modes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9145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4748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7488" y="1920240"/>
            <a:ext cx="82296" cy="24505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66944" y="210312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6694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729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Request bounded delta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Smallest diff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986016" y="3145536"/>
            <a:ext cx="210311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242047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42047" y="1920240"/>
            <a:ext cx="82296" cy="245059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61503" y="21031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1503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5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Audit/test/build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8057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43660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6608" y="1920240"/>
            <a:ext cx="82296" cy="24505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656064" y="210312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5606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641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Report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Limits + rollback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901184"/>
            <a:ext cx="10835640" cy="10241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020056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GUARDRAIL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5010912"/>
            <a:ext cx="885139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Generated code remains a proposal until the JSON contract, runtime state and verifier agree.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transition spd="fast">
    <p:fade/>
  </p:transition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02: technical excerpt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6629400" cy="420624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6080760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7EAFF"/>
                </a:solidFill>
                <a:latin typeface="Consolas"/>
              </a:rPr>
              <a:t>{
  "targetMode": "ar",
  "tracking": {
    "plane": "horizontal",
    "placement": "hit-test",
    "anchorPersistence": "session"
  },
  "content": {
    "subject": "machine",
    "instances": 4,
    "callouts": 4,
    "scaleMetres": 0.65
  },
  "performance": {
    "targetFps": 60,
    "drawCallBudget": 40,
    "triangleBudget": 80000
  }
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73736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737360"/>
            <a:ext cx="82296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18119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19" y="192024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86537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2872" y="182880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storyboard has four states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69748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2697480"/>
            <a:ext cx="82296" cy="8046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18119" y="2880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19" y="288036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82549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2872" y="278892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high-contrast labels are enabled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365760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35240" y="3657600"/>
            <a:ext cx="82296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18119" y="384048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19" y="384048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785615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3749039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reduced-motion control is present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461772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35240" y="4617720"/>
            <a:ext cx="82296" cy="80467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818119" y="480060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18119" y="480060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74573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470916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tap interaction is declared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504688"/>
            <a:ext cx="10835640" cy="61264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623559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614416"/>
            <a:ext cx="8851392" cy="4480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node labs/lab-02-storyboard-and-spatial-ui/verify.mjs → PASS Lab 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transition spd="fast">
    <p:fade/>
  </p:transition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02 · VERIFY /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02: acceptance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pp-preview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19072"/>
            <a:ext cx="3931920" cy="4251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892040" y="1719072"/>
            <a:ext cx="3182112" cy="4251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30368" y="2011680"/>
            <a:ext cx="24688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PASS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542032"/>
            <a:ext cx="2487168" cy="2697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storyboard has four states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high-contrast labels are enabled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reduced-motion control is present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tap interaction is declared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719072"/>
            <a:ext cx="3172968" cy="42519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8" y="2011680"/>
            <a:ext cx="24688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8" y="2542032"/>
            <a:ext cx="2487168" cy="2697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If a storyboard frame is vague, rewrite it as a visible state plus user action plus evidence.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If labels disappear, enable Spatial callouts in Runtime controls.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If mobile text is cramped, use the 390 px responsive layout and verify there is no horizontal overflow.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transition spd="fast">
    <p:fade/>
  </p:transition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Equipment specifications into AR content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Envelope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Operating state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Hazard 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Information layer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Extract physical dimensions, safe operating state, controls that must remain visible and the exact instruction content.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transition spd="fast">
    <p:fade/>
  </p:transition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Equipment specifications into AR content: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scaleMetres: 0.65, callouts: 3, anchorPersistence: 'session'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Measured scale and unobstructed safety controls are captured in the review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Envelope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Operating state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Hazard boundary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Information layer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Measured scale and unobstructed safety controls are captured in the review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transition spd="fast">
    <p:fade/>
  </p:transition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Equipment specifications into AR content: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correctly modelled turbine is scaled wrongly or covers the emergency-stop control.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Treat physical envelope and no-occlusion zones as acceptance constraints.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Measured scale and unobstructed safety controls are captured in the review evidence.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transition spd="fast">
    <p:fade/>
  </p:transition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Coordinate systems and metric units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Model 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World space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Reference 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View space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Transforms compose from child to parent; WebXR reference spaces relate tracked poses to application world coordinates.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transition spd="fast">
    <p:fade/>
  </p:transition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Coordinate systems and metric units: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worldMatrix = parent.matrixWorld * child.matrix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A 0.65 m source object measures 0.65 world units after import.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Model space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World space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Reference space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View space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0.65 m source object measures 0.65 world units after import.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transition spd="fast">
    <p:fade/>
  </p:transition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Coordinate systems and metric units: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Centimetre-authored content interpreted as metres appears 100× too large.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Normalise assets to metres at import and document the root scale.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0.65 m source object measures 0.65 world units after import.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transition spd="fast">
    <p:fade/>
  </p:transition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Device capability decision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Secure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navigator.xr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Session support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Fallback route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Capability is measured, not inferred from device brand; immersive modes may be independently supported.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transition spd="fast">
    <p:fade/>
  </p:transition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Device capability decision matrix: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await navigator.xr?.isSessionSupported('immersive-ar')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Unsupported AR/VR presents the exact limitation and a working preview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Secure context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navigator.xr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Session support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Fallback route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Unsupported AR/VR presents the exact limitation and a working preview route.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transition spd="fast">
    <p:fade/>
  </p:transition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Device capability decision matrix: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AR button is shown on an unsupported desktop and ends in a dead click.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Gate each mode separately and keep desktop preview available.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Unsupported AR/VR presents the exact limitation and a working preview route.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transition spd="fast">
    <p:fade/>
  </p:transition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Secure context and permission intent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Localhost or HTTPS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User activation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Session request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Consent duration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Immersive sessions require secure-context APIs and a user gesture; tracking should start only after explicit intent.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transition spd="fast">
    <p:fade/>
  </p:transition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Secure context and permission intent: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button.addEventListener('click', () =&gt; navigator.xr.requestSession('immersive-ar'))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No tracking/session request occurs until the learner activates the immersive button.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Localhost or HTTPS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User activation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Session request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Consent duration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No tracking/session request occurs until the learner activates the immersive button.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transition spd="fast">
    <p:fade/>
  </p:transition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Secure context and permission intent: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app requests spatial tracking on page load or suggests bypassing a browser security warning.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Use localhost/HTTPS and a clear Enter AR/VR action; never bypass safety interstitials.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No tracking/session request occurs until the learner activates the immersive button.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transition spd="fast">
    <p:fade/>
  </p:transition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XR session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Probe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Request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Render XR frames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End and clean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session owns frame timing, input sources and reference spaces; session-end cleanup returns the app to desktop state.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transition spd="fast">
    <p:fade/>
  </p:transition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XR session lifecycle: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session.addEventListener('end', () =&gt; { hitTestSource = null; });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Start–end–restart produces one fresh source and no duplicated event handlers.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Probe support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Request session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Render XR frames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End and clean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Start–end–restart produces one fresh source and no duplicated event handlers.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transition spd="fast">
    <p:fade/>
  </p:transition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XR session lifecycle: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stale hit-test source or controller state leaks into the next session.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Register one lifecycle owner and reset session-scoped resources on `end`.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Start–end–restart produces one fresh source and no duplicated event handlers.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transition spd="fast">
    <p:fade/>
  </p:transition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1 · HANDS-ON LAB · 60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03 · WebXR Capability and Equipment Gate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10835640" cy="10789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10222992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Detect browser/device capability and route learners to AR, VR, or desktop fallback without a dead-end experience.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6736" y="3410712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6736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Brief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14016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07792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38144" y="3410712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8144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Prompt contract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35424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29200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59552" y="3410712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Local runtime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56832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150608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80960" y="3410712"/>
            <a:ext cx="566928" cy="566928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0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624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78240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272016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02368" y="3410712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02368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Verifier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029200"/>
            <a:ext cx="10835640" cy="10241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148072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138928"/>
            <a:ext cx="885139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Scene JSON · runtime evidence · review artifact · PASS Lab 03. Full detailed procedure: labs/lab-03-webxr-capability-and-equipment-gate/README.md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transition spd="fast">
    <p:fade/>
  </p:transition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03 · VIBE CODING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03: prompt-to-runtime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20240"/>
            <a:ext cx="82296" cy="24505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1031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 existing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Map ownership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9689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5292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1920240"/>
            <a:ext cx="82296" cy="2450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72384" y="210312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7238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 invariants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Preserve modes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9145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4748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7488" y="1920240"/>
            <a:ext cx="82296" cy="24505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66944" y="210312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6694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729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Request bounded delta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Smallest diff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986016" y="3145536"/>
            <a:ext cx="210311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242047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42047" y="1920240"/>
            <a:ext cx="82296" cy="245059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61503" y="21031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1503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5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Audit/test/build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8057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43660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6608" y="1920240"/>
            <a:ext cx="82296" cy="24505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656064" y="210312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5606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641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Report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Limits + rollback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901184"/>
            <a:ext cx="10835640" cy="10241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020056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GUARDRAIL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5010912"/>
            <a:ext cx="885139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Generated code remains a proposal until the JSON contract, runtime state and verifier agree.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transition spd="fast">
    <p:fade/>
  </p:transition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03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03: technical excerpt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6629400" cy="420624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6080760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7EAFF"/>
                </a:solidFill>
                <a:latin typeface="Consolas"/>
              </a:rPr>
              <a:t>{
  "targetMode": "desktop",
  "tracking": {
    "orbitCamera": true
  },
  "content": {
    "subject": "product",
    "instances": 2,
    "callouts": 2,
    "scaleMetres": 0.65
  },
  "performance": {
    "targetFps": 60,
    "drawCallBudget": 40,
    "triangleBudget": 80000
  }
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73736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737360"/>
            <a:ext cx="82296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18119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19" y="192024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86537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2872" y="182880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desktop fallback remains available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69748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2697480"/>
            <a:ext cx="82296" cy="8046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18119" y="2880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19" y="288036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82549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2872" y="278892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mode is explicit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365760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35240" y="3657600"/>
            <a:ext cx="82296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18119" y="384048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19" y="384048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785615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3749039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runtime budget is declared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461772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35240" y="4617720"/>
            <a:ext cx="82296" cy="80467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818119" y="480060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18119" y="480060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74573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470916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unsupported WebXR is communicated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504688"/>
            <a:ext cx="10835640" cy="61264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623559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614416"/>
            <a:ext cx="8851392" cy="4480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node labs/lab-03-webxr-capability-and-equipment-gate/verify.mjs → PASS Lab 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transition spd="fast">
    <p:fade/>
  </p:transition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03 · VERIFY /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03: acceptance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pp-preview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19072"/>
            <a:ext cx="3931920" cy="4251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892040" y="1719072"/>
            <a:ext cx="3182112" cy="4251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30368" y="2011680"/>
            <a:ext cx="24688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PASS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542032"/>
            <a:ext cx="2487168" cy="2697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desktop fallback remains available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mode is explicit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runtime budget is declared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unsupported WebXR is communicated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719072"/>
            <a:ext cx="3172968" cy="42519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8" y="2011680"/>
            <a:ext cx="24688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8" y="2542032"/>
            <a:ext cx="2487168" cy="2697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WebXR immersive sessions require HTTPS or localhost; use the exact local URL printed by Vite.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Safari desktop may expose no immersive WebXR; use desktop preview for code review.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If WebGL is disabled, confirm hardware acceleration before changing application code.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transition spd="fast">
    <p:fade/>
  </p:transition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Versioned scene schema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Schema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Required fields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F6FEB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Migration/rejection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`ar-vr-vibe-scene/v1` is a contract; import rejects unknown schemas and invalid performance/accessibility fields.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transition spd="fast">
    <p:fade/>
  </p:transition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Versioned scene schema: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if (scene.schema !== 'ar-vr-vibe-scene/v1') throw new Error('Unsupported scene schema');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Valid v1 imports round-trip; unknown schema fails before scene mutation.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Schema 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Required fields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Validation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Migration/rejection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Valid v1 imports round-trip; unknown schema fails before scene mutation.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transition spd="fast">
    <p:fade/>
  </p:transition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Versioned scene schema: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Silent import of an old or malformed scene fails later inside rendering code.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Validate at the boundary and give a precise repair path.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Valid v1 imports round-trip; unknown schema fails before scene mutation.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transition spd="fast">
    <p:fade/>
  </p:transition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RECAP · TRACE THE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Day 1 knowledge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880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Which fields make a vibe prompt testable?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719072"/>
            <a:ext cx="82296" cy="2880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13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STORYBOARD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Which state proves the user can orient before acting?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719072"/>
            <a:ext cx="82296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CAPABILITY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Why are AR and VR probed independently?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87968" y="1719072"/>
            <a:ext cx="82296" cy="28803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74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What is the difference between a green build and runtime proof?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transition spd="fast">
    <p:fade/>
  </p:transition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868680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TOPIC 2 · K4 · K5 · K6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578608"/>
            <a:ext cx="896112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AR Application Development with Localhost WebXR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840480"/>
            <a:ext cx="886968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Three.js scene graph · WebXR sessions · hit test · anchors · raycast interaction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29800" y="658368"/>
            <a:ext cx="14630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000" b="1">
                <a:solidFill>
                  <a:srgbClr val="D7E0EA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transition spd="med">
    <p:push/>
  </p:transition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MECHANISM · ANNOTATED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Detected planes, hit tests and anchors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-anchors-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0784"/>
            <a:ext cx="7635240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03920" y="1700784"/>
            <a:ext cx="2990088" cy="1143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03920" y="1700784"/>
            <a:ext cx="82296" cy="1143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23376" y="188366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23376" y="188366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53728" y="1847088"/>
            <a:ext cx="209397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9952" y="2395728"/>
            <a:ext cx="2496312" cy="30175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Hit testing queries real-world geometry exposed by the XR device.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3054096"/>
            <a:ext cx="2990088" cy="1143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03920" y="3054096"/>
            <a:ext cx="82296" cy="1143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723376" y="32369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23376" y="32369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728" y="3200400"/>
            <a:ext cx="209397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Reticle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2" y="3749039"/>
            <a:ext cx="2496312" cy="30175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Current-frame pose is visible before the learner commits placement.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4407408"/>
            <a:ext cx="2990088" cy="1143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3920" y="4407408"/>
            <a:ext cx="82296" cy="1143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23376" y="4590288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23376" y="459028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4553712"/>
            <a:ext cx="209397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Anchor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59952" y="5102352"/>
            <a:ext cx="2496312" cy="30175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Placed content inherits the session tracking boundary.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transition spd="fast">
    <p:fade/>
  </p:transition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Three.js renderer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Canvas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WebGLRenderer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XR manager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Animation loop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One renderer owns the drawing buffer, XR session binding, pixel ratio and render loop.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transition spd="fast">
    <p:fade/>
  </p:transition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Three.js renderer ownership: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renderer.xr.enabled = true; renderer.setAnimationLoop(render);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Desktop and VR/AR modes render through one loop with no duplicate callback.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WebGLRenderer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XR manager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Animation loop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Desktop and VR/AR modes render through one loop with no duplicate callback.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transition spd="fast">
    <p:fade/>
  </p:transition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Three.js renderer ownership: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Two animation loops compete or window.requestAnimationFrame stops during immersive presentation.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Use `setAnimationLoop` as the single frame scheduler for desktop and XR.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Desktop and VR/AR modes render through one loop with no duplicate callback.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transition spd="fast">
    <p:fade/>
  </p:transition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Scene graph transform chain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Scene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generatedRoot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Object 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child transform is evaluated relative to its parent; root scale and placement move every generated object coherently.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transition spd="fast">
    <p:fade/>
  </p:transition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Scene graph transform chain: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generatedRoot.position.setFromMatrixPosition(reticle.matrix);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The root follows placement while child motion preserves anchor locations.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Scene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generatedRoot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Object group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Mesh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root follows placement while child motion preserves anchor locations.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transition spd="fast">
    <p:fade/>
  </p:transition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Scene graph transform chain: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Rotating the root also rotates callout anchors around the wrong pivot.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Assign placement to the root and local animation to the intended child mesh.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root follows placement while child motion preserves anchor locations.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transition spd="fast">
    <p:fade/>
  </p:transition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Perspective camera projection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Field of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Aspect ratio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Near/far planes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Projection matrix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camera frustum maps view-space depth to clip space; tight near/far ranges improve depth precision.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transition spd="fast">
    <p:fade/>
  </p:transition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Perspective camera projection: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camera.aspect = width / height; camera.updateProjectionMatrix();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A 390 px viewport preserves object proportions and no target is clipped at expected distance.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Field of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Aspect ratio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Near/far planes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Projection matrix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390 px viewport preserves object proportions and no target is clipped at expected distance.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transition spd="fast">
    <p:fade/>
  </p:transition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Perspective camera projection: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resize stretches the scene or far/near values cause z-fighting and clipping.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Update aspect on resize and choose the smallest practical depth range.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390 px viewport preserves object proportions and no target is clipped at expected distance.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transition spd="fast">
    <p:fade/>
  </p:transition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Lighting model and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Environment fill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Key direction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Material 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Shadow receiver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Hemisphere light supplies broad fill; a directional key defines form; shadows require renderer, light, caster and receiver settings.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transition spd="fast">
    <p:fade/>
  </p:transition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Lighting model and evidence: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renderer.shadowMap.enabled = true; key.castShadow = true;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The object casts a visible, correctly oriented shadow on the floor preview.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Environment fill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Key direction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Material response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Shadow receiver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object casts a visible, correctly oriented shadow on the floor preview.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transition spd="fast">
    <p:fade/>
  </p:transition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Lighting model and evidence: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Enabling only one part of the shadow chain produces no shadow while code appears plausible.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Verify the complete chain and maintain readable contrast under AR camera content.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object casts a visible, correctly oriented shadow on the floor preview.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transition spd="fast">
    <p:fade/>
  </p:transition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Material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 colour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Roughness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Metalness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Depth policy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Physically based material parameters control reflected light; depthTest/depthWrite control virtual ordering.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transition spd="fast">
    <p:fade/>
  </p:transition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Material contract: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new THREE.MeshStandardMaterial({color, metalness:0.28, roughness:0.34})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Colour identity remains visible and surfaces retain form at multiple camera angles.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Base colour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Roughness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Metalness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Depth policy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Colour identity remains visible and surfaces retain form at multiple camera angles.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transition spd="fast">
    <p:fade/>
  </p:transition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Material contract: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Highly metallic content without an environment looks black or misleadingly glossy.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Use restrained parameters and test against the actual lighting/background.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Colour identity remains visible and surfaces retain form at multiple camera angles.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transition spd="fast">
    <p:fade/>
  </p:transition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· HANDS-ON LAB · 90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04 · Scene Graph, Lighting and Animation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10835640" cy="10789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10222992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Build a deterministic Three.js scene graph and explain how transforms, lighting, render loop, and cleanup interact.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6736" y="3410712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6736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Brief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14016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07792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38144" y="3410712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8144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Prompt contract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35424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29200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59552" y="3410712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Local runtime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56832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150608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80960" y="3410712"/>
            <a:ext cx="566928" cy="566928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0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624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78240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272016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02368" y="3410712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02368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Verifier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029200"/>
            <a:ext cx="10835640" cy="10241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148072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138928"/>
            <a:ext cx="885139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Scene JSON · runtime evidence · review artifact · PASS Lab 04. Full detailed procedure: labs/lab-04-scene-graph-lighting-and-animation/README.md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transition spd="fast">
    <p:fade/>
  </p:transition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04 · VIBE CODING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04: prompt-to-runtime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20240"/>
            <a:ext cx="82296" cy="24505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1031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 existing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Map ownership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9689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5292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1920240"/>
            <a:ext cx="82296" cy="2450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72384" y="210312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7238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 invariants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Preserve modes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9145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4748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7488" y="1920240"/>
            <a:ext cx="82296" cy="24505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66944" y="210312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6694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729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Request bounded delta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Smallest diff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986016" y="3145536"/>
            <a:ext cx="210311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242047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42047" y="1920240"/>
            <a:ext cx="82296" cy="245059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61503" y="21031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1503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5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Audit/test/build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8057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43660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6608" y="1920240"/>
            <a:ext cx="82296" cy="24505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656064" y="210312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5606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641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Report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Limits + rollback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901184"/>
            <a:ext cx="10835640" cy="10241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020056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GUARDRAIL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5010912"/>
            <a:ext cx="885139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Generated code remains a proposal until the JSON contract, runtime state and verifier agree.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transition spd="fast">
    <p:fade/>
  </p:transition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04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04: technical excerpt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6629400" cy="420624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6080760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7EAFF"/>
                </a:solidFill>
                <a:latin typeface="Consolas"/>
              </a:rPr>
              <a:t>{
  "targetMode": "desktop",
  "tracking": {
    "orbitCamera": true
  },
  "content": {
    "subject": "engine",
    "instances": 3,
    "callouts": 3,
    "scaleMetres": 0.65
  },
  "performance": {
    "targetFps": 60,
    "drawCallBudget": 40,
    "triangleBudget": 80000
  }
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73736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737360"/>
            <a:ext cx="82296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18119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19" y="192024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86537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2872" y="182880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generated root uses metric scale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69748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2697480"/>
            <a:ext cx="82296" cy="8046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18119" y="2880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19" y="288036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82549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2872" y="278892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animation can be disabled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365760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35240" y="3657600"/>
            <a:ext cx="82296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18119" y="384048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19" y="384048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785615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3749039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performance budget is explicit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461772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35240" y="4617720"/>
            <a:ext cx="82296" cy="80467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818119" y="480060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18119" y="480060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74573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470916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cleanup/disposal is documented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504688"/>
            <a:ext cx="10835640" cy="61264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623559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614416"/>
            <a:ext cx="8851392" cy="4480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node labs/lab-04-scene-graph-lighting-and-animation/verify.mjs → PASS Lab 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transition spd="fast">
    <p:fade/>
  </p:transition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04 · VERIFY /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04: acceptance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pp-preview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19072"/>
            <a:ext cx="3931920" cy="4251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892040" y="1719072"/>
            <a:ext cx="3182112" cy="4251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30368" y="2011680"/>
            <a:ext cx="24688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PASS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542032"/>
            <a:ext cx="2487168" cy="2697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generated root uses metric scale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animation can be disabled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performance budget is explicit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cleanup/disposal is documented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719072"/>
            <a:ext cx="3172968" cy="42519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8" y="2011680"/>
            <a:ext cx="24688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8" y="2542032"/>
            <a:ext cx="2487168" cy="2697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If every child rotates around the same origin, rotate the child mesh rather than the root group.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If shadows vanish, verify the renderer shadow map, casting light, object castShadow, and floor receiveShadow as one chain.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If repeated generation slows down, inspect disposal of geometry and materials.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transition spd="fast">
    <p:fade/>
  </p:transition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Geometry and draw-call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Geometry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Material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Renderer submission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Each material/geometry group can create a draw call; instancing can submit repeated geometry together.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transition spd="fast">
    <p:fade/>
  </p:transition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EDITABLE NATIVE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Draw calls: separate meshes vs instancing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49808" y="1783080"/>
          <a:ext cx="7498079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522208" y="1783080"/>
            <a:ext cx="2971800" cy="4206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96528" y="2039112"/>
            <a:ext cx="239572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WHAT THE DATA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96528" y="2542032"/>
            <a:ext cx="2395728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Each material/geometry group can create a draw call; instancing can submit repeated geometry together.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4069080"/>
            <a:ext cx="239572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DECISION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462272"/>
            <a:ext cx="2395728" cy="11704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Renderer stats remain within the 40-draw-call contract at the lab scene size.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transition spd="fast">
    <p:fade/>
  </p:transition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Geometry and draw-call cost: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Dozens of identical callout meshes inflate draw calls and reduce mobile frame rate.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Share geometry/materials or use instancing after measuring, not by assumption.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Renderer stats remain within the 40-draw-call contract at the lab scene size.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transition spd="fast">
    <p:fade/>
  </p:transition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Metric scale and asset normalisation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Authoring units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Import 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Root normalisation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Runtime measure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One world unit is treated as one metre; imported assets are normalised once at their boundary.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transition spd="fast">
    <p:fade/>
  </p:transition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Metric scale and asset normalisation: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generatedRoot.scale.setScalar(contract.content.scaleMetres);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Bounding-box measurement matches the equipment specification within tolerance.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Authoring units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Import scale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Root normalisation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Runtime measure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Bounding-box measurement matches the equipment specification within tolerance.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transition spd="fast">
    <p:fade/>
  </p:transition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Metric scale and asset normalisation: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Repeated scale corrections at parent and child levels multiply unexpectedly.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Store real size in the contract and apply exactly one normalisation factor.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Bounding-box measurement matches the equipment specification within tolerance.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transition spd="fast">
    <p:fade/>
  </p:transition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Delta-time animation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Frame timestamp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 update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Motion should depend on elapsed time, not frames, so behaviour remains consistent across refresh rates.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transition spd="fast">
    <p:fade/>
  </p:transition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Delta-time animation: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rotation.y += radiansPerSecond * deltaSeconds;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One second produces the same angular change at 60 and 120 simulated frames.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Frame timestamp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Delta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State update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Render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One second produces the same angular change at 60 and 120 simulated frames.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transition spd="fast">
    <p:fade/>
  </p:transition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Delta-time animation: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fixed per-frame increment runs 2× faster at 120 Hz than at 60 Hz.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Use delta time and clamp long gaps after a suspended tab/session.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One second produces the same angular change at 60 and 120 simulated frames.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transition spd="fast">
    <p:fade/>
  </p:transition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Desktop orbit fallback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Pointer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Orbit controller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Camera target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Preview render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Desktop orbit is a review mode, not simulated immersive tracking; it exposes content when WebXR is unavailable.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transition spd="fast">
    <p:fade/>
  </p:transition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Desktop orbit fallback: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controls.enabled = !renderer.xr.isPresenting;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Desktop orbit works before/after XR and never overrides XR camera state.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Pointer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Orbit controller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Camera target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Preview render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Desktop orbit works before/after XR and never overrides XR camera state.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transition spd="fast">
    <p:fade/>
  </p:transition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Desktop orbit fallback: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OrbitControls competes with XR headset camera pose during an immersive session.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Disable desktop camera controls while XR is presenting.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Desktop orbit works before/after XR and never overrides XR camera state.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transition spd="fast">
    <p:fade/>
  </p:transition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AR session feature request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Session mode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Required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Optional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 overlay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Required features make the request fail when absent; optional features enhance the session without blocking it.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transition spd="fast">
    <p:fade/>
  </p:transition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AR session feature request: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ARButton.createButton(renderer,{requiredFeatures:['hit-test'],optionalFeatures:['dom-overlay']})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The request declares hit-test as essential and desktop preview remains reachable on failure.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Session mode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Required features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Optional features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DOM overlay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request declares hit-test as essential and desktop preview remains reachable on failure.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transition spd="fast">
    <p:fade/>
  </p:transition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AR session feature request: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Marking convenience features as required unnecessarily excludes capable devices.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Require only mechanisms essential to the lab contract and provide fallback messaging.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request declares hit-test as essential and desktop preview remains reachable on failure.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transition spd="fast">
    <p:fade/>
  </p:transition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· HANDS-ON LAB · 90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05 · Plane Detection, Hit Test and Anchors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10835640" cy="10789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10222992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Place virtual content on a detected real-world surface using viewer-space hit testing and a visible reticle.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6736" y="3410712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6736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Brief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14016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07792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38144" y="3410712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8144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Prompt contract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35424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29200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59552" y="3410712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Local runtime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56832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150608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80960" y="3410712"/>
            <a:ext cx="566928" cy="566928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0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624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78240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272016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02368" y="3410712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02368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Verifier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029200"/>
            <a:ext cx="10835640" cy="10241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148072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138928"/>
            <a:ext cx="885139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Scene JSON · runtime evidence · review artifact · PASS Lab 05. Full detailed procedure: labs/lab-05-plane-detection-hit-test-and-anchors/README.md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transition spd="fast">
    <p:fade/>
  </p:transition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05 · VIBE CODING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05: prompt-to-runtime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20240"/>
            <a:ext cx="82296" cy="24505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1031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 existing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Map ownership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9689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5292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1920240"/>
            <a:ext cx="82296" cy="2450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72384" y="210312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7238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 invariants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Preserve modes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9145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4748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7488" y="1920240"/>
            <a:ext cx="82296" cy="24505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66944" y="210312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6694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729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Request bounded delta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Smallest diff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986016" y="3145536"/>
            <a:ext cx="210311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242047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42047" y="1920240"/>
            <a:ext cx="82296" cy="245059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61503" y="21031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1503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5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Audit/test/build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8057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43660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6608" y="1920240"/>
            <a:ext cx="82296" cy="24505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656064" y="210312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5606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641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Report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Limits + rollback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901184"/>
            <a:ext cx="10835640" cy="10241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020056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GUARDRAIL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5010912"/>
            <a:ext cx="885139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Generated code remains a proposal until the JSON contract, runtime state and verifier agree.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transition spd="fast">
    <p:fade/>
  </p:transition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05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05: technical excerpt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6629400" cy="420624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6080760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7EAFF"/>
                </a:solidFill>
                <a:latin typeface="Consolas"/>
              </a:rPr>
              <a:t>{
  "targetMode": "ar",
  "tracking": {
    "plane": "horizontal",
    "placement": "hit-test",
    "anchorPersistence": "session"
  },
  "content": {
    "subject": "turbine",
    "instances": 3,
    "callouts": 3,
    "scaleMetres": 0.65
  },
  "performance": {
    "targetFps": 60,
    "drawCallBudget": 40,
    "triangleBudget": 80000
  }
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73736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737360"/>
            <a:ext cx="82296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18119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19" y="192024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86537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2872" y="182880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AR uses horizontal-plane hit 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69748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2697480"/>
            <a:ext cx="82296" cy="8046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18119" y="2880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19" y="288036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82549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2872" y="278892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reticle precedes placement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365760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35240" y="3657600"/>
            <a:ext cx="82296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18119" y="384048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19" y="384048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785615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3749039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session cleanup is explicit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461772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35240" y="4617720"/>
            <a:ext cx="82296" cy="80467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818119" y="480060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18119" y="480060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74573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470916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virtual object scale is metric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504688"/>
            <a:ext cx="10835640" cy="61264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623559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614416"/>
            <a:ext cx="8851392" cy="4480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node labs/lab-05-plane-detection-hit-test-and-anchors/verify.mjs → PASS Lab 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transition spd="fast">
    <p:fade/>
  </p:transition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05 · VERIFY /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05: acceptance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pp-preview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19072"/>
            <a:ext cx="3931920" cy="4251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892040" y="1719072"/>
            <a:ext cx="3182112" cy="4251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30368" y="2011680"/>
            <a:ext cx="24688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PASS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542032"/>
            <a:ext cx="2487168" cy="2697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AR uses horizontal-plane hit test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reticle precedes placement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session cleanup is explicit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virtual object scale is 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719072"/>
            <a:ext cx="3172968" cy="42519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8" y="2011680"/>
            <a:ext cx="24688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8" y="2542032"/>
            <a:ext cx="2487168" cy="2697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No reticle: improve lighting/texture on the physical surface and move the device slowly.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Object drifts: avoid repeatedly overwriting the placed transform after selection.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Session will not launch: confirm WebXR AR support and localhost/HTTPS secure context.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transition spd="fast">
    <p:fade/>
  </p:transition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Viewer-space hit-test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Viewer reference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Request source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Frame results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transient hit ray originates from viewer space; results are evaluated per XRFrame against the app reference space.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transition spd="fast">
    <p:fade/>
  </p:transition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Viewer-space hit-test source: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frame.getHitTestResults(hitTestSource)[0]?.getPose(referenceSpace)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Instrumentation shows one source request per start–end cycle.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Viewer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Request 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Frame results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Pose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Instrumentation shows one source request per start–end cycle.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transition spd="fast">
    <p:fade/>
  </p:transition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Viewer-space hit-test source: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Requesting a new hit-test source every frame wastes resources and may fail.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Request once per session and reuse until the session ends.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Instrumentation shows one source request per start–end cycle.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transition spd="fast">
    <p:fade/>
  </p:transition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Reticle as placement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Hit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Pose matrix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Reticle transform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Visible state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reticle shows the current placement pose before the learner commits content.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transition spd="fast">
    <p:fade/>
  </p:transition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Reticle as placement evidence: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reticle.matrix.fromArray(pose.transform.matrix);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No result hides reticle; stable result shows it at the detected surface.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Hit result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Pose matrix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Reticle transform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Visible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No result hides reticle; stable result shows it at the detected surface.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transition spd="fast">
    <p:fade/>
  </p:transition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Reticle as placement evidence: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Content appears before a valid surface or the reticle remains visible after results disappear.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Tie reticle visibility directly to current-frame hit results.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No result hides reticle; stable result shows it at the detected surface.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transition spd="fast">
    <p:fade/>
  </p:transition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Anchor and persistence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Pose selected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Root placed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Session tracks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Session ends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session-scoped placement remains stable only for the active XR session unless a persistent-anchor facility is explicitly available.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transition spd="fast">
    <p:fade/>
  </p:transition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Anchor and persistence boundary: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anchorPersistence: 'session'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Reload clearly resets placement and never claims cross-session persistence.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Pose selected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Root placed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Session tracks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Session ends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Reload clearly resets placement and never claims cross-session persistence.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transition spd="fast">
    <p:fade/>
  </p:transition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Anchor and persistence boundary: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app promises persistence across reloads without storing or resolving a durable anchor.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Name the persistence boundary in the scene contract and handover.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Reload clearly resets placement and never claims cross-session persistence.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transition spd="fast">
    <p:fade/>
  </p:transition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Raycast selection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Pointer/controller ray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Selectable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Ordered intersections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 feedback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Raycasting maps an input ray to distance-sorted scene intersections.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transition spd="fast">
    <p:fade/>
  </p:transition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Raycast selection pipeline: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const hit = raycaster.intersectObjects(selectables,true)[0] ?? null;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Nearest valid selectable object is highlighted; empty ray returns no-hit feedback.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Pointer/controller ray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Selectable set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Ordered intersections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State feedback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Nearest valid selectable object is highlighted; empty ray returns no-hit feedback.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transition spd="fast">
    <p:fade/>
  </p:transition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Raycast selection pipeline: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ray tests the whole scene, selecting floor/helpers or hidden children.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Maintain a named selectable collection and filter by state/layer.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Nearest valid selectable object is highlighted; empty ray returns no-hit feedback.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transition spd="fast">
    <p:fade/>
  </p:transition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Pointer coordinate normalisation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Canvas bounds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Client coordinates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Normalised device coordinates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Camera ray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Pointer x/y must be relative to the rendering canvas, then mapped to [-1,1] with inverted 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transition spd="fast">
    <p:fade/>
  </p:transition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Pointer coordinate normalisation: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x=((clientX-left)/width)*2-1; y=-((clientY-top)/height)*2+1;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Touches at all four canvas corners map close to (-1,1), (1,1), (-1,-1), (1,-1).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Canvas bounds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Client coordinates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Normalised device coordinates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Camera ray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Touches at all four canvas corners map close to (-1,1), (1,1), (-1,-1), (1,-1).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transition spd="fast">
    <p:fade/>
  </p:transition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Pointer coordinate normalisation: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Using window dimensions produces mobile misses when the canvas is inset.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Compute from the current canvas bounding rectangle for every pointer event.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Touches at all four canvas corners map close to (-1,1), (1,1), (-1,-1), (1,-1).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transition spd="fast">
    <p:fade/>
  </p:transition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· HANDS-ON LAB · 75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06 · Raycast, Touch and Spatial Feedback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10835640" cy="10789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10222992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Implement selection feedback and diagnose interaction misses using ray origin, direction, target bounds, and state evidence.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6736" y="3410712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6736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Brief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14016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07792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38144" y="3410712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8144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Prompt contract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35424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29200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59552" y="3410712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Local runtime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56832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150608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80960" y="3410712"/>
            <a:ext cx="566928" cy="566928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0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624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78240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272016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02368" y="3410712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02368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Verifier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029200"/>
            <a:ext cx="10835640" cy="10241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148072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138928"/>
            <a:ext cx="885139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Scene JSON · runtime evidence · review artifact · PASS Lab 06. Full detailed procedure: labs/lab-06-raycast-touch-and-spatial-feedback/README.md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transition spd="fast">
    <p:fade/>
  </p:transition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06 · VIBE CODING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06: prompt-to-runtime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20240"/>
            <a:ext cx="82296" cy="24505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1031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 existing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Map ownership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9689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5292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1920240"/>
            <a:ext cx="82296" cy="2450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72384" y="210312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7238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 invariants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Preserve modes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9145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4748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7488" y="1920240"/>
            <a:ext cx="82296" cy="24505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66944" y="210312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6694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729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Request bounded delta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Smallest diff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986016" y="3145536"/>
            <a:ext cx="210311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242047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42047" y="1920240"/>
            <a:ext cx="82296" cy="245059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61503" y="21031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1503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5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Audit/test/build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8057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43660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6608" y="1920240"/>
            <a:ext cx="82296" cy="24505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656064" y="210312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5606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641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Report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Limits + rollback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901184"/>
            <a:ext cx="10835640" cy="10241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020056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GUARDRAIL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5010912"/>
            <a:ext cx="885139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Generated code remains a proposal until the JSON contract, runtime state and verifier agree.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transition spd="fast">
    <p:fade/>
  </p:transition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06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06: technical excerpt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6629400" cy="420624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6080760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7EAFF"/>
                </a:solidFill>
                <a:latin typeface="Consolas"/>
              </a:rPr>
              <a:t>{
  "targetMode": "ar",
  "tracking": {
    "plane": "horizontal",
    "placement": "hit-test",
    "anchorPersistence": "session"
  },
  "content": {
    "subject": "robot",
    "instances": 4,
    "callouts": 4,
    "scaleMetres": 0.65
  },
  "performance": {
    "targetFps": 60,
    "drawCallBudget": 40,
    "triangleBudget": 80000
  }
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73736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737360"/>
            <a:ext cx="82296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18119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19" y="192024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86537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2872" y="182880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tap interaction is declared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69748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2697480"/>
            <a:ext cx="82296" cy="8046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18119" y="2880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19" y="288036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82549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2872" y="278892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nearest target is selected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365760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35240" y="3657600"/>
            <a:ext cx="82296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18119" y="384048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19" y="384048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785615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3749039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no-hit state is visible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461772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35240" y="4617720"/>
            <a:ext cx="82296" cy="80467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818119" y="480060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18119" y="480060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74573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470916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interaction review identifies a cause and adjustment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504688"/>
            <a:ext cx="10835640" cy="61264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623559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614416"/>
            <a:ext cx="8851392" cy="4480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node labs/lab-06-raycast-touch-and-spatial-feedback/verify.mjs → PASS Lab 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transition spd="fast">
    <p:fade/>
  </p:transition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06 · VERIFY /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06: acceptance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pp-preview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19072"/>
            <a:ext cx="3931920" cy="4251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892040" y="1719072"/>
            <a:ext cx="3182112" cy="4251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30368" y="2011680"/>
            <a:ext cx="24688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PASS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542032"/>
            <a:ext cx="2487168" cy="2697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tap interaction is declared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nearest target is selected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no-hit state is visible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interaction review identifies a cause and adjustment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719072"/>
            <a:ext cx="3172968" cy="42519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8" y="2011680"/>
            <a:ext cx="24688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8" y="2542032"/>
            <a:ext cx="2487168" cy="2697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Wrong object selected: sort intersections by distance and use the first valid selectable target.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Touch misses on mobile: calculate pointer coordinates from the canvas bounding rectangle.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Invisible feedback: verify material state is restored when selection changes.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transition spd="fast">
    <p:fade/>
  </p:transition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XR controller input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Input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Target ray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Select event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Haptic/visual feedback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Tracked-pointer rays originate from the controller or hand; handedness and targetRayMode are runtime properties.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transition spd="fast">
    <p:fade/>
  </p:transition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XR controller input sources: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const controller = renderer.xr.getController(0); controller.addEventListener('select', place);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Controller 0/1 or gaze input can trigger the same semantic action without hard-coded handedness.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Input source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Target ray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Select event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Haptic/visual feedback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Controller 0/1 or gaze input can trigger the same semantic action without hard-coded handedness.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transition spd="fast">
    <p:fade/>
  </p:transition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XR controller input sources: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implementation assumes a right-hand controller and fails for gaze or left hand.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Use capability-driven input mapping and redundant feedback.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Controller 0/1 or gaze input can trigger the same semantic action without hard-coded handedness.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transition spd="fast">
    <p:fade/>
  </p:transition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Scene regeneration and disposal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Detach old 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Traverse resources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Dispose GPU objects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Build new graph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Removing a mesh does not free its GPU buffers; geometry, materials and textures need disposal when no longer used.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transition spd="fast">
    <p:fade/>
  </p:transition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Scene regeneration and disposal: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child.traverse(o=&gt;{o.geometry?.dispose(); o.material?.dispose();});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Ten regenerations show stable renderer memory counters and no console errors.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Detach old graph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Traverse resources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Dispose GPU objects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Build new graph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Ten regenerations show stable renderer memory counters and no console errors.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transition spd="fast">
    <p:fade/>
  </p:transition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Scene regeneration and disposal: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Repeated prompt variations grow GPU memory and eventually reduce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Centralise disposal at the regeneration boundary and avoid disposing shared resources prematurely.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Ten regenerations show stable renderer memory counters and no console errors.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transition spd="fast">
    <p:fade/>
  </p:transition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Scene export and import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Serialize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Download 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Validate 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7C3AED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Mutate scene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Only validated declarative data crosses the import boundary; executable code is never accepted from scene JSON.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transition spd="fast">
    <p:fade/>
  </p:transition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Scene export and import boundary: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const scene = safeImport(await file.text());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Valid export round-trips; invalid schema leaves the previous scene unchanged.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Serialize contract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Download JSON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Validate input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Mutate scene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Valid export round-trips; invalid schema leaves the previous scene unchanged.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transition spd="fast">
    <p:fade/>
  </p:transition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Scene export and import boundary: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An imported object contains unexpected code-like values or missing fields and partially mutates state.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Parse, validate schema/checks, then apply atomically.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Valid export round-trips; invalid schema leaves the previous scene unchanged.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transition spd="fast">
    <p:fade/>
  </p:transition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868680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TOPIC 3 · K7 · A3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578608"/>
            <a:ext cx="896112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Testing, Reviewing and Optimising AR/VR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840480"/>
            <a:ext cx="8869680" cy="5852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AR/VR boundary · comfort · frame budgets · diagnostics · handover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29800" y="658368"/>
            <a:ext cx="14630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000" b="1">
                <a:solidFill>
                  <a:srgbClr val="D7E0EA"/>
                </a:solidFill>
                <a:latin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transition spd="med">
    <p:push/>
  </p:transition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MECHANISM · ANNOTATED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VR interaction and comfort boundaries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r-interaction-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0784"/>
            <a:ext cx="7635240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03920" y="1700784"/>
            <a:ext cx="2990088" cy="1143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03920" y="1700784"/>
            <a:ext cx="82296" cy="1143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23376" y="188366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23376" y="188366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53728" y="1847088"/>
            <a:ext cx="209397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Reference 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9952" y="2395728"/>
            <a:ext cx="2496312" cy="30175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Local-floor origin and play-area assumptions define the coordinate contract.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3054096"/>
            <a:ext cx="2990088" cy="1143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03920" y="3054096"/>
            <a:ext cx="82296" cy="1143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723376" y="32369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23376" y="32369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728" y="3200400"/>
            <a:ext cx="209397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Controller rays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2" y="3749039"/>
            <a:ext cx="2496312" cy="30175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Tracked input maps to selectable bounds and visible feedback.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4407408"/>
            <a:ext cx="2990088" cy="1143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3920" y="4407408"/>
            <a:ext cx="82296" cy="1143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23376" y="4590288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23376" y="459028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4553712"/>
            <a:ext cx="209397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Frame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59952" y="5102352"/>
            <a:ext cx="2496312" cy="30175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Refresh rate sets the time available for update and stereo render.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transition spd="fast">
    <p:fade/>
  </p:transition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AR and VR runtime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Camera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Reference space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Input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Safety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AR composites virtual content with the real environment; VR replaces the view and introduces play-area/comfort constraints.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transition spd="fast">
    <p:fade/>
  </p:transition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AR and VR runtime boundary: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targetMode: 'ar' | 'vr'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A reviewer can name five concrete fields that change between AR and VR.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Camera source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Reference space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Input model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Safety model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reviewer can name five concrete fields that change between AR and VR.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transition spd="fast">
    <p:fade/>
  </p:transition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AR and VR runtime boundary: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use-case comparison hides the implementation differences and reuses incompatible assumptions.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Make the decision from environment, tracking, input, safety and performance contracts.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reviewer can name five concrete fields that change between AR and VR.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transition spd="fast">
    <p:fade/>
  </p:transition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Reference-space choice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Viewer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Local-floor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Bounded-floor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Reference spaces express different origin and movement assumptions; local-floor supplies floor-relative height where supported.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transition spd="fast">
    <p:fade/>
  </p:transition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Reference-space choice: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renderer.xr.setReferenceSpaceType('local-floor');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Content origin and eye height match the selected reference-space contract.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Viewer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Local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Local-floor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Bounded-floor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Content origin and eye height match the selected reference-space contract.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transition spd="fast">
    <p:fade/>
  </p:transition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Reference-space choice: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seated user or uncalibrated floor gets an incorrect content height.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Provide seated fallback and calibrate/bound the expected play space.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Content origin and eye height match the selected reference-space contract.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transition spd="fast">
    <p:fade/>
  </p:transition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Stereo frame budget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Refresh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Frame period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CPU update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GPU render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Frame budget in milliseconds is 1000 ÷ refresh rate: 16.7 ms at 60 Hz, 13.9 ms at 72 Hz, 11.1 ms at 90 Hz.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</p:spTree>
  </p:cSld>
  <p:transition spd="fast">
    <p:fade/>
  </p:transition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EDITABLE NATIVE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Refresh rate determines the frame-time budget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49808" y="1783080"/>
          <a:ext cx="7498079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522208" y="1783080"/>
            <a:ext cx="2971800" cy="4206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96528" y="2039112"/>
            <a:ext cx="239572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WHAT THE DATA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96528" y="2542032"/>
            <a:ext cx="2395728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Frame budget in milliseconds is 1000 ÷ refresh rate: 16.7 ms at 60 Hz, 13.9 ms at 72 Hz, 11.1 ms at 90 Hz.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4069080"/>
            <a:ext cx="239572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DECISION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462272"/>
            <a:ext cx="2395728" cy="11704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Measured total stays below the selected refresh-period budget.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transition spd="fast">
    <p:fade/>
  </p:transition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Stereo frame budget: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16 ms frame passes desktop 60 Hz but misses a 90 Hz headset deadline.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Set the target from the actual device/session and measure CPU/GPU time separately.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Measured total stays below the selected refresh-period budget.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transition spd="fast">
    <p:fade/>
  </p:transition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Controller rays and affordance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Ray origin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Ray visual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Target bounds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Selection feedback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visible ray communicates reach and direction; targets need sufficient angular size and depth separation.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transition spd="fast">
    <p:fade/>
  </p:transition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Controller rays and affordance: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controller.add(new THREE.Line(rayGeometry, rayMaterial));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Learner can predict the selected target before pressing the controller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Ray origin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Ray visual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Target bounds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Selection feedback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Learner can predict the selected target before pressing the controller trigger.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</p:spTree>
  </p:cSld>
  <p:transition spd="fast">
    <p:fade/>
  </p:transition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Controller rays and affordance: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An invisible ray makes controller selection feel random even when code works.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Show ray/reticle feedback and enlarge hit bounds without misrepresenting the visible object.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Learner can predict the selected target before pressing the controller trigger.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transition spd="fast">
    <p:fade/>
  </p:transition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Teleport locomotion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Aim parabola/ray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Validate floor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Preview target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Commit pose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Teleport moves the player rig to a valid floor point while maintaining head-relative height.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transition spd="fast">
    <p:fade/>
  </p:transition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Teleport locomotion: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if (hit.surface === 'walkable') rig.position.copy(hit.point);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Invalid surfaces never accept; valid target shows preview and deterministic landing.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Aim parabola/ray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Validate floor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Preview target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Commit pose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Invalid surfaces never accept; valid target shows preview and deterministic landing.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transition spd="fast">
    <p:fade/>
  </p:transition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Teleport locomotion: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Teleport lands inside geometry or continuous motion causes discomfort.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Whitelist walkable surfaces, show destination, then commit on release.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Invalid surfaces never accept; valid target shows preview and deterministic landing.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</p:spTree>
  </p:cSld>
  <p:transition spd="fast">
    <p:fade/>
  </p:transition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HANDS-ON LAB · 75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07 · Immersive VR, Controllers and Comfort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10835640" cy="10789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10222992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Convert the same content contract into a VR runtime and distinguish AR overlay constraints from VR room-scale constraints.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6736" y="3410712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6736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Brief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14016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07792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38144" y="3410712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8144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Prompt contract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35424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29200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59552" y="3410712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Local runtime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56832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150608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80960" y="3410712"/>
            <a:ext cx="566928" cy="566928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0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624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78240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272016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02368" y="3410712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02368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Verifier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029200"/>
            <a:ext cx="10835640" cy="10241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148072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138928"/>
            <a:ext cx="885139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Scene JSON · runtime evidence · review artifact · PASS Lab 07. Full detailed procedure: labs/lab-07-immersive-vr-controllers-and-comfort/README.md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transition spd="fast">
    <p:fade/>
  </p:transition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07 · VIBE CODING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07: prompt-to-runtime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20240"/>
            <a:ext cx="82296" cy="24505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1031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 existing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Map ownership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9689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5292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1920240"/>
            <a:ext cx="82296" cy="2450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72384" y="210312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7238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 invariants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Preserve modes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9145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4748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7488" y="1920240"/>
            <a:ext cx="82296" cy="24505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66944" y="210312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6694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729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Request bounded delta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Smallest diff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986016" y="3145536"/>
            <a:ext cx="210311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242047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42047" y="1920240"/>
            <a:ext cx="82296" cy="245059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61503" y="21031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1503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5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Audit/test/build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8057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43660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6608" y="1920240"/>
            <a:ext cx="82296" cy="24505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656064" y="210312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5606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641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Report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Limits + rollback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901184"/>
            <a:ext cx="10835640" cy="10241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020056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GUARDRAIL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5010912"/>
            <a:ext cx="885139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Generated code remains a proposal until the JSON contract, runtime state and verifier agree.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transition spd="fast">
    <p:fade/>
  </p:transition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07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07: technical excerpt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6629400" cy="420624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6080760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7EAFF"/>
                </a:solidFill>
                <a:latin typeface="Consolas"/>
              </a:rPr>
              <a:t>{
  "targetMode": "vr",
  "tracking": {
    "origin": "local-floor",
    "guardian": true
  },
  "content": {
    "subject": "machine",
    "instances": 4,
    "callouts": 4,
    "scaleMetres": 0.65
  },
  "performance": {
    "targetFps": 72,
    "drawCallBudget": 40,
    "triangleBudget": 80000
  }
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73736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737360"/>
            <a:ext cx="82296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18119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19" y="192024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86537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2872" y="182880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target mode is VR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69748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2697480"/>
            <a:ext cx="82296" cy="8046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18119" y="2880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19" y="288036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82549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2872" y="278892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local-floor origin is declared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365760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35240" y="3657600"/>
            <a:ext cx="82296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18119" y="384048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19" y="384048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785615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3749039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guardian and seated fallback are present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461772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35240" y="4617720"/>
            <a:ext cx="82296" cy="80467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818119" y="480060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18119" y="480060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74573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470916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target frame rate is at least 72 FPS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504688"/>
            <a:ext cx="10835640" cy="61264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623559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614416"/>
            <a:ext cx="8851392" cy="4480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node labs/lab-07-immersive-vr-controllers-and-comfort/verify.mjs → PASS Lab 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transition spd="fast">
    <p:fade/>
  </p:transition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07 · VERIFY /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07: acceptance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pp-preview-v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19072"/>
            <a:ext cx="3931920" cy="4251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892040" y="1719072"/>
            <a:ext cx="3182112" cy="4251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30368" y="2011680"/>
            <a:ext cx="24688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PASS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542032"/>
            <a:ext cx="2487168" cy="2697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target mode is VR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local-floor origin is declared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guardian and seated fallback are present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target frame rate is at least 72 FPS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719072"/>
            <a:ext cx="3172968" cy="42519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8" y="2011680"/>
            <a:ext cx="24688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8" y="2542032"/>
            <a:ext cx="2487168" cy="2697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VR button disabled: verify `immersive-vr` support and the secure context.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Floor height wrong: use local-floor reference space and calibrate the headset boundary.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Discomfort: disable continuous motion and use teleport plus snap turns.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transition spd="fast">
    <p:fade/>
  </p:transition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Guardian and physical safety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Known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Virtual layout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Approach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Warning/stop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VR content must respect the platform play-area boundary; applications should avoid encouraging rapid movement near edges.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transition spd="fast">
    <p:fade/>
  </p:transition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Guardian and physical safety: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guardian: true, seatedFallback: true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All required targets remain reachable without crossing the physical boundary.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Known boundary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Virtual layout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Approach threshold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Warning/stop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All required targets remain reachable without crossing the physical boundary.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171</a:t>
            </a:r>
          </a:p>
        </p:txBody>
      </p:sp>
    </p:spTree>
  </p:cSld>
  <p:transition spd="fast">
    <p:fade/>
  </p:transition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Guardian and physical safety: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required reach exceeds the play area or training ignores real obstacles.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Design seated/standing variants and keep interactions within conservative reach.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All required targets remain reachable without crossing the physical boundary.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transition spd="fast">
    <p:fade/>
  </p:transition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Motion comfort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Motion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Acceleration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Visual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User 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Artificial camera motion creates optic flow without matching vestibular input; teleport, snap turns and reduced motion reduce conflict.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</p:spTree>
  </p:cSld>
  <p:transition spd="fast">
    <p:fade/>
  </p:transition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Motion comfort controls: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reducedMotionToggle: true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Reduced-motion setting stops non-essential animation immediately.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Motion source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Acceleration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Visual flow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User control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Reduced-motion setting stops non-essential animation immediately.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174</a:t>
            </a:r>
          </a:p>
        </p:txBody>
      </p:sp>
    </p:spTree>
  </p:cSld>
  <p:transition spd="fast">
    <p:fade/>
  </p:transition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Motion comfort controls: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Auto-rotation or smooth locomotion cannot be disabled.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Expose motion control and default to the least provocative movement compatible with the task.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Reduced-motion setting stops non-essential animation immediately.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175</a:t>
            </a:r>
          </a:p>
        </p:txBody>
      </p:sp>
    </p:spTree>
  </p:cSld>
  <p:transition spd="fast">
    <p:fade/>
  </p:transition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Spatial accessibility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Perceivable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Operable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Understandable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Fallback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Use redundant colour/shape/text cues, reachable controls, readable labels and a non-immersive route.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176</a:t>
            </a:r>
          </a:p>
        </p:txBody>
      </p:sp>
    </p:spTree>
  </p:cSld>
  <p:transition spd="fast">
    <p:fade/>
  </p:transition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Spatial accessibility: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highContrastLabels: true, seatedFallback: true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Core task can be completed from desktop and status is not colour-only.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Perceivable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Operable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Understandable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Fallback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Core task can be completed from desktop and status is not colour-only.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177</a:t>
            </a:r>
          </a:p>
        </p:txBody>
      </p:sp>
    </p:spTree>
  </p:cSld>
  <p:transition spd="fast">
    <p:fade/>
  </p:transition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Spatial accessibility: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Meaning is encoded only by colour or requires a controller gesture unavailable to some users.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Provide multiple feedback channels and keyboard/pointer desktop access.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Core task can be completed from desktop and status is not colour-only.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178</a:t>
            </a:r>
          </a:p>
        </p:txBody>
      </p:sp>
    </p:spTree>
  </p:cSld>
  <p:transition spd="fast">
    <p:fade/>
  </p:transition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FPS measurement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Timestamp delta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Instantaneous FPS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Rolling 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Threshold decision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FPS = 1000 ÷ frame delta ms; a rolling mean reduces jitter but can hide spikes, so retain percentile/spike evidence when tuning.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179</a:t>
            </a:r>
          </a:p>
        </p:txBody>
      </p:sp>
    </p:spTree>
  </p:cSld>
  <p:transition spd="fast">
    <p:fade/>
  </p:transition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EDITABLE NATIVE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Measured scene load and optimisation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49808" y="1783080"/>
          <a:ext cx="7498079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522208" y="1783080"/>
            <a:ext cx="2971800" cy="4206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96528" y="2039112"/>
            <a:ext cx="239572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WHAT THE DATA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96528" y="2542032"/>
            <a:ext cx="2395728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FPS = 1000 ÷ frame delta ms; a rolling mean reduces jitter but can hide spikes, so retain percentile/spike evidence when tuning.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4069080"/>
            <a:ext cx="239572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DECISION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462272"/>
            <a:ext cx="2395728" cy="11704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Rolling FPS meets target and no sustained frame exceeds the relevant budget.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180</a:t>
            </a:r>
          </a:p>
        </p:txBody>
      </p:sp>
    </p:spTree>
  </p:cSld>
  <p:transition spd="fast">
    <p:fade/>
  </p:transition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FPS measurement: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single 120 FPS reading is reported as stable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Use a representative window and record device, scene and mode.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Rolling FPS meets target and no sustained frame exceeds the relevant budget.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181</a:t>
            </a:r>
          </a:p>
        </p:txBody>
      </p:sp>
    </p:spTree>
  </p:cSld>
  <p:transition spd="fast">
    <p:fade/>
  </p:transition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Draw-call and triangle budgets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Scene 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Renderer stats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Budget compare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Optimise/retest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Triangles affect vertex/fragment work; draw calls add submission/state overhead. Both must be measured.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182</a:t>
            </a:r>
          </a:p>
        </p:txBody>
      </p:sp>
    </p:spTree>
  </p:cSld>
  <p:transition spd="fast">
    <p:fade/>
  </p:transition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Draw-call and triangle budgets: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renderer.info.render.calls; renderer.info.render.triangles;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Calls ≤ 40 and triangles ≤ 80,000 for the lab contract; FPS returns above target.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Scene inventory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Renderer stats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Budget compare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Optimise/retest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Calls ≤ 40 and triangles ≤ 80,000 for the lab contract; FPS returns above target.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183</a:t>
            </a:r>
          </a:p>
        </p:txBody>
      </p:sp>
    </p:spTree>
  </p:cSld>
  <p:transition spd="fast">
    <p:fade/>
  </p:transition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Draw-call and triangle budgets: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team lowers polygon count while draw-call overhead remains the actual bottleneck.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Change one budget driver at a time and retest the same scene.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Calls ≤ 40 and triangles ≤ 80,000 for the lab contract; FPS returns above target.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184</a:t>
            </a:r>
          </a:p>
        </p:txBody>
      </p:sp>
    </p:spTree>
  </p:cSld>
  <p:transition spd="fast">
    <p:fade/>
  </p:transition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HANDS-ON LAB · 90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08 · Runtime Review, Optimisation and Handover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10835640" cy="10789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10222992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Review a generated AR/VR runtime, isolate defects with evidence, implement bounded adjustments, and prepare a reproducible handover.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6736" y="3410712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6736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Brief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14016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07792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38144" y="3410712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8144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Prompt contract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35424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29200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59552" y="3410712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Local runtime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56832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150608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80960" y="3410712"/>
            <a:ext cx="566928" cy="566928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0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624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78240" y="3886200"/>
            <a:ext cx="420624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272016" y="3246120"/>
            <a:ext cx="162763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02368" y="3410712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02368" y="3410712"/>
            <a:ext cx="566928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4050791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Verifier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029200"/>
            <a:ext cx="10835640" cy="10241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148072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YOU'LL PRODUCE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138928"/>
            <a:ext cx="885139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Scene JSON · runtime evidence · review artifact · PASS Lab 08. Full detailed procedure: labs/lab-08-runtime-review-optimisation-and-handover/README.md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185</a:t>
            </a:r>
          </a:p>
        </p:txBody>
      </p:sp>
    </p:spTree>
  </p:cSld>
  <p:transition spd="fast">
    <p:fade/>
  </p:transition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08 · VIBE CODING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08: prompt-to-runtime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20240"/>
            <a:ext cx="82296" cy="24505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1031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 existing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Map ownership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9689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5292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1920240"/>
            <a:ext cx="82296" cy="2450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72384" y="210312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7238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 invariants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Preserve modes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9145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4748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7488" y="1920240"/>
            <a:ext cx="82296" cy="24505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66944" y="210312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6694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729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Request bounded delta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Smallest diff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986016" y="3145536"/>
            <a:ext cx="210311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242047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42047" y="1920240"/>
            <a:ext cx="82296" cy="245059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61503" y="21031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1503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5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Audit/test/build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8057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436608" y="1920240"/>
            <a:ext cx="1938528" cy="245059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6608" y="1920240"/>
            <a:ext cx="82296" cy="24505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656064" y="210312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56064" y="21031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6416" y="2066544"/>
            <a:ext cx="104241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Report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2615184"/>
            <a:ext cx="1444752" cy="16093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Limits + rollback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901184"/>
            <a:ext cx="10835640" cy="10241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020056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GUARDRAIL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5010912"/>
            <a:ext cx="885139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Generated code remains a proposal until the JSON contract, runtime state and verifier agree.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186</a:t>
            </a:r>
          </a:p>
        </p:txBody>
      </p:sp>
    </p:spTree>
  </p:cSld>
  <p:transition spd="fast">
    <p:fade/>
  </p:transition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08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08: technical excerpt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6629400" cy="420624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6080760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7EAFF"/>
                </a:solidFill>
                <a:latin typeface="Consolas"/>
              </a:rPr>
              <a:t>{
  "targetMode": "ar",
  "tracking": {
    "plane": "horizontal",
    "placement": "hit-test",
    "anchorPersistence": "session"
  },
  "content": {
    "subject": "building",
    "instances": 5,
    "callouts": 5,
    "scaleMetres": 0.65
  },
  "performance": {
    "targetFps": 60,
    "drawCallBudget": 40,
    "triangleBudget": 80000
  }
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73736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737360"/>
            <a:ext cx="82296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18119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19" y="192024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86537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2872" y="182880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all five contract checks 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69748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2697480"/>
            <a:ext cx="82296" cy="8046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18119" y="2880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19" y="288036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82549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2872" y="278892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one defect is evidenced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365760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35240" y="3657600"/>
            <a:ext cx="82296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18119" y="384048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19" y="384048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785615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3749039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one bounded adjustment is retested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4617720"/>
            <a:ext cx="3858768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35240" y="4617720"/>
            <a:ext cx="82296" cy="80467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818119" y="480060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18119" y="480060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745736"/>
            <a:ext cx="932688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ASSERT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4709160"/>
            <a:ext cx="2048255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61B26"/>
                </a:solidFill>
                <a:latin typeface="Arial"/>
              </a:rPr>
              <a:t>handover includes commands and rollback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504688"/>
            <a:ext cx="10835640" cy="61264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623559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RUN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614416"/>
            <a:ext cx="8851392" cy="4480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node labs/lab-08-runtime-review-optimisation-and-handover/verify.mjs → PASS Lab 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187</a:t>
            </a:r>
          </a:p>
        </p:txBody>
      </p:sp>
    </p:spTree>
  </p:cSld>
  <p:transition spd="fast">
    <p:fade/>
  </p:transition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08 · VERIFY /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08: acceptance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pp-preview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19072"/>
            <a:ext cx="3931920" cy="4251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892040" y="1719072"/>
            <a:ext cx="3182112" cy="4251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30368" y="2011680"/>
            <a:ext cx="24688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PASS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542032"/>
            <a:ext cx="2487168" cy="2697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all five contract checks pass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one defect is evidenced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one bounded adjustment is retested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✓ handover includes commands and rollback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719072"/>
            <a:ext cx="3172968" cy="42519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8" y="2011680"/>
            <a:ext cx="24688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8" y="2542032"/>
            <a:ext cx="2487168" cy="2697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Low FPS: separate device limits from application load before lowering quality.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Growing memory: verify disposal during scene regeneration.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61B26"/>
                </a:solidFill>
                <a:latin typeface="Arial"/>
              </a:rPr>
              <a:t>•  Mobile overflow: measure scrollWidth against clientWidth and fix the responsible element, not the whole layout.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188</a:t>
            </a:r>
          </a:p>
        </p:txBody>
      </p:sp>
    </p:spTree>
  </p:cSld>
  <p:transition spd="fast">
    <p:fade/>
  </p:transition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Memory-leak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Reproduce cycles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Observe counters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Find retained resource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Dispose and retest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Stable scene regeneration should converge rather than monotonically grow geometry/texture/program counters.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189</a:t>
            </a:r>
          </a:p>
        </p:txBody>
      </p:sp>
    </p:spTree>
  </p:cSld>
  <p:transition spd="fast">
    <p:fade/>
  </p:transition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Memory-leak diagnosis: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console.table(renderer.info.memory);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Counters stabilise across repeated generate/reset cycles.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Reproduce cycles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Observe counters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Find retained resource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Dispose and retest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Counters stabilise across repeated generate/reset cycles.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190</a:t>
            </a:r>
          </a:p>
        </p:txBody>
      </p:sp>
    </p:spTree>
  </p:cSld>
  <p:transition spd="fast">
    <p:fade/>
  </p:transition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Memory-leak diagnosis: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one-time warm-up is mistaken for a leak or an actual retained texture is missed.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Compare a repeated fixed cycle after warm-up and trace ownership before disposal.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Counters stabilise across repeated generate/reset cycles.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191</a:t>
            </a:r>
          </a:p>
        </p:txBody>
      </p:sp>
    </p:spTree>
  </p:cSld>
  <p:transition spd="fast">
    <p:fade/>
  </p:transition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Console and network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Reproduce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Capture first error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Map to source/request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Verify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first causal error often explains later failures; failed module/asset requests are runtime evidence, not cosmetic warnings.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192</a:t>
            </a:r>
          </a:p>
        </p:txBody>
      </p:sp>
    </p:spTree>
  </p:cSld>
  <p:transition spd="fast">
    <p:fade/>
  </p:transition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Console and network evidence: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npm run dev; open DevTools Console and Network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Reload produces zero unexpected console errors and zero failed required requests.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Reproduce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Capture first error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Map to source/request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Verify recovery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Reload produces zero unexpected console errors and zero failed required requests.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193</a:t>
            </a:r>
          </a:p>
        </p:txBody>
      </p:sp>
    </p:spTree>
  </p:cSld>
  <p:transition spd="fast">
    <p:fade/>
  </p:transition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Console and network evidence: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team fixes the last cascading error or ignores a 404 that removed an AR asset.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Start from a clean reload, capture timestamps/URL/status and fix the earliest cause.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Reload produces zero unexpected console errors and zero failed required requests.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194</a:t>
            </a:r>
          </a:p>
        </p:txBody>
      </p:sp>
    </p:spTree>
  </p:cSld>
  <p:transition spd="fast">
    <p:fade/>
  </p:transition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Responsive control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Viewport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Layout reflow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Touch targets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Overflow 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Immersive launch and fallback controls must remain usable on the device that hosts the AR session.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195</a:t>
            </a:r>
          </a:p>
        </p:txBody>
      </p:sp>
    </p:spTree>
  </p:cSld>
  <p:transition spd="fast">
    <p:fade/>
  </p:transition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Responsive control surface: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document.documentElement.scrollWidth &lt;= document.documentElement.clientWidth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375×667, 390×844 and 768×1024 show no horizontal overflow; actionable targets meet the touch rule.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Viewport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Layout reflow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Touch targets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Overflow test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375×667, 390×844 and 768×1024 show no horizontal overflow; actionable targets meet the touch rule.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196</a:t>
            </a:r>
          </a:p>
        </p:txBody>
      </p:sp>
    </p:spTree>
  </p:cSld>
  <p:transition spd="fast">
    <p:fade/>
  </p:transition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Responsive control surface: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desktop three-column inspector overflows a 375 px phone or uses sub-44 px controls.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Stack panels, preserve 16 px form text and measure tap targets/overflow.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375×667, 390×844 and 768×1024 show no horizontal overflow; actionable targets meet the touch rule.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197</a:t>
            </a:r>
          </a:p>
        </p:txBody>
      </p:sp>
    </p:spTree>
  </p:cSld>
  <p:transition spd="fast">
    <p:fade/>
  </p:transition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Runtime defect taxonomy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Rendering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Interaction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Content/usability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Classify by observed subsystem before proposing fixes; one symptom may cross boundaries but needs a first testable hypothesis.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198</a:t>
            </a:r>
          </a:p>
        </p:txBody>
      </p:sp>
    </p:spTree>
  </p:cSld>
  <p:transition spd="fast">
    <p:fade/>
  </p:transition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Runtime defect taxonomy: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defect = {expected, observed, evidence, subsystem, impact}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Every defect record names expected/observed state and a reproducible observation.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Tracking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Rendering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Interaction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Content/usability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Every defect record names expected/observed state and a reproducible observation.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199</a:t>
            </a:r>
          </a:p>
        </p:txBody>
      </p:sp>
    </p:spTree>
  </p:cSld>
  <p:transition spd="fast">
    <p:fade/>
  </p:transition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Runtime defect taxonomy: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Drift is blamed on the 3D model when the actual issue is anchor/session lifecycle.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Use subsystem evidence and rank user impact before editing.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Every defect record names expected/observed state and a reproducible observation.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200</a:t>
            </a:r>
          </a:p>
        </p:txBody>
      </p:sp>
    </p:spTree>
  </p:cSld>
  <p:transition spd="fast">
    <p:fade/>
  </p:transition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Root-cause review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Reproduce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Isolate variable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Smallest change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Retest same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controlled review preserves the failing observation and changes one plausible cause at a time.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201</a:t>
            </a:r>
          </a:p>
        </p:txBody>
      </p:sp>
    </p:spTree>
  </p:cSld>
  <p:transition spd="fast">
    <p:fade/>
  </p:transition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Root-cause review loop: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test('reticle hides when no hit results', ...)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The original failing case passes and adjacent tests remain unchanged.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Reproduce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Isolate variable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Smallest change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Retest same evidence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original failing case passes and adjacent tests remain unchanged.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202</a:t>
            </a:r>
          </a:p>
        </p:txBody>
      </p:sp>
    </p:spTree>
  </p:cSld>
  <p:transition spd="fast">
    <p:fade/>
  </p:transition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Root-cause review loop: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broad rewrite removes the symptom but also changes behaviour and erases causality.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Add a regression test before or with the bounded fix; keep a rollback path.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original failing case passes and adjacent tests remain unchanged.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203</a:t>
            </a:r>
          </a:p>
        </p:txBody>
      </p:sp>
    </p:spTree>
  </p:cSld>
  <p:transition spd="fast">
    <p:fade/>
  </p:transition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Regression-test pyramid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Pure contract 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 interaction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Browser smoke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Supported-device XR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Fast deterministic tests cover parsing/validation; browser tests cover UI; physical XR evidence covers device-only behaviour.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204</a:t>
            </a:r>
          </a:p>
        </p:txBody>
      </p:sp>
    </p:spTree>
  </p:cSld>
  <p:transition spd="fast">
    <p:fade/>
  </p:transition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Regression-test pyramid: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vitest run &amp;&amp; vite build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Automated and device-dependent results are reported without conflation.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Pure contract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DOM interaction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Browser smoke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Supported-device XR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Automated and device-dependent results are reported without conflation.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205</a:t>
            </a:r>
          </a:p>
        </p:txBody>
      </p:sp>
    </p:spTree>
  </p:cSld>
  <p:transition spd="fast">
    <p:fade/>
  </p:transition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Regression-test pyramid: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unit test is presented as proof that hit testing worked on a real device.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Name the evidence boundary and list device checks separately.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Automated and device-dependent results are reported without conflation.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206</a:t>
            </a:r>
          </a:p>
        </p:txBody>
      </p:sp>
    </p:spTree>
  </p:cSld>
  <p:transition spd="fast">
    <p:fade/>
  </p:transition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RUNTIME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Developer handover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65376"/>
            <a:ext cx="82296" cy="2560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04825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Changed 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Input and state are explicit.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55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015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865376"/>
            <a:ext cx="82296" cy="25603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1024" y="2048256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Rationale and risks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Transition has a named trigger.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887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47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865376"/>
            <a:ext cx="82296" cy="2560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64224" y="204825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Commands/results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Output becomes reviewable evidence.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31936" y="3145536"/>
            <a:ext cx="210312" cy="0"/>
          </a:xfrm>
          <a:prstGeom prst="line">
            <a:avLst/>
          </a:prstGeom>
          <a:ln w="25400">
            <a:solidFill>
              <a:srgbClr val="10B981"/>
            </a:solidFill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87968" y="1865376"/>
            <a:ext cx="2487168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865376"/>
            <a:ext cx="82296" cy="2560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2048256"/>
            <a:ext cx="420624" cy="42062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11680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Rollback and open checks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560320"/>
            <a:ext cx="1993392" cy="17190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Acceptance decides the next state.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681728"/>
            <a:ext cx="10835640" cy="11155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800600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MECHANISM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4791456"/>
            <a:ext cx="8851392" cy="9509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Handover records the exact build, scene schema, constraints, evidence and unverified device assumptions.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207</a:t>
            </a:r>
          </a:p>
        </p:txBody>
      </p:sp>
    </p:spTree>
  </p:cSld>
  <p:transition spd="fast">
    <p:fade/>
  </p:transition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CODE /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Developer handover contract: concrete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5715000" cy="3611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93392"/>
            <a:ext cx="2011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CONTRACT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32304"/>
            <a:ext cx="5166360" cy="2606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inspectable learner evidence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git diff --check; npm audit; npm test; npm run build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// acceptance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D7EAFF"/>
                </a:solidFill>
                <a:latin typeface="Arial"/>
              </a:rPr>
              <a:t>A new developer can clone, install, run, verify and revert without hidden context.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737360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1737360"/>
            <a:ext cx="82296" cy="6583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7728" y="1847088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845B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847088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Changed files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542032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542032"/>
            <a:ext cx="82296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651760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651760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Rationale and risks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346704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3346704"/>
            <a:ext cx="82296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456432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456432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Commands/results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151376"/>
            <a:ext cx="4818888" cy="6583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75120" y="4151376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261104"/>
            <a:ext cx="1051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4261104"/>
            <a:ext cx="3200400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Rollback and open checks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13832"/>
            <a:ext cx="1083564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327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23560"/>
            <a:ext cx="8851392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new developer can clone, install, run, verify and revert without hidden context.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208</a:t>
            </a:r>
          </a:p>
        </p:txBody>
      </p:sp>
    </p:spTree>
  </p:cSld>
  <p:transition spd="fast">
    <p:fade/>
  </p:transition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 ·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Developer handover contract: failure and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321868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03120"/>
            <a:ext cx="20116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FAILURE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handover says 'working' without version, tests, or supported-device scope.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83080"/>
            <a:ext cx="5239512" cy="32186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28816" y="20482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2048256"/>
            <a:ext cx="530352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103120"/>
            <a:ext cx="25603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CONTROL /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834640"/>
            <a:ext cx="4590288" cy="1600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Use a reproducible checklist and link evidence artifacts by relative path.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285232"/>
            <a:ext cx="1083564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40410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VERIFICATION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394960"/>
            <a:ext cx="8851392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 new developer can clone, install, run, verify and revert without hidden context.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209</a:t>
            </a:r>
          </a:p>
        </p:txBody>
      </p:sp>
    </p:spTree>
  </p:cSld>
  <p:transition spd="fast">
    <p:fade/>
  </p:transition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REQUIREMENTS → RUNTIME →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synthesis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880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TRANSLATE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Turn work and equipment facts into a versioned scene contract.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719072"/>
            <a:ext cx="82296" cy="2880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13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STORYBOARD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Model Entry, Orient, Act and Confirm as observable states.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719072"/>
            <a:ext cx="82296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BUILD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Run one scene graph through desktop, AR and VR capability boundaries.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87968" y="1719072"/>
            <a:ext cx="82296" cy="28803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74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Diagnose evidence, change one cause, retest and hand over.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983480"/>
            <a:ext cx="10835640" cy="9601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102352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COURSE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093208"/>
            <a:ext cx="8851392" cy="7955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The coding agent accelerates implementation; the learner owns the contract and evidence.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210</a:t>
            </a:r>
          </a:p>
        </p:txBody>
      </p:sp>
    </p:spTree>
  </p:cSld>
  <p:transition spd="fast">
    <p:fade/>
  </p:transition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CONTINUE YOUR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Recommended next courses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880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Vibe Coding for Basic Web Design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719072"/>
            <a:ext cx="82296" cy="2880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13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AI Vibe Coding with React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719072"/>
            <a:ext cx="82296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FULL STACK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AI Vibe Coding for Full Stack Web Applications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87968" y="1719072"/>
            <a:ext cx="82296" cy="28803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74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Create RESTful APIs and Web Apps with Python Flask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211</a:t>
            </a:r>
          </a:p>
        </p:txBody>
      </p:sp>
    </p:spTree>
  </p:cSld>
  <p:transition spd="fast">
    <p:fade/>
  </p:transition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AFTER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880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719072"/>
            <a:ext cx="82296" cy="2880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13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PHONE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+65 6100 0613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719072"/>
            <a:ext cx="82296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COURSE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https://www.tertiarycourses.com.sg/wsq-ai-vibe-coding-for-augmented-reality-ar-applications.html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87968" y="1719072"/>
            <a:ext cx="82296" cy="28803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74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LIVE PLAYGROUND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https://alfredang.github.io/arvr-playground/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212</a:t>
            </a:r>
          </a:p>
        </p:txBody>
      </p:sp>
    </p:spTree>
  </p:cSld>
  <p:transition spd="fast">
    <p:fade/>
  </p:transition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CLOSING 1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880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7 open-ended questions · 60 minutes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719072"/>
            <a:ext cx="82296" cy="2880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13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3 connected tasks · 90 minutes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719072"/>
            <a:ext cx="82296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Upload completed candidate documents to the LMS.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87968" y="1719072"/>
            <a:ext cx="82296" cy="28803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74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SIGN-OFF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Review feedback and sign the Assessment Summary Record.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213</a:t>
            </a:r>
          </a:p>
        </p:txBody>
      </p:sp>
    </p:spTree>
  </p:cSld>
  <p:transition spd="fast">
    <p:fade/>
  </p:transition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CLOSING 2 OF 3 · TRAQOM → ATTENDANCE → WA → PP →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93776" y="2240280"/>
            <a:ext cx="1536192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86968" y="2651760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651760"/>
            <a:ext cx="749808" cy="7498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694176"/>
            <a:ext cx="135331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TRAQOM</a:t>
            </a:r>
          </a:p>
        </p:txBody>
      </p:sp>
      <p:sp>
        <p:nvSpPr>
          <p:cNvPr id="10" name="Chevron 9"/>
          <p:cNvSpPr/>
          <p:nvPr/>
        </p:nvSpPr>
        <p:spPr>
          <a:xfrm>
            <a:off x="2103120" y="3364992"/>
            <a:ext cx="256032" cy="438912"/>
          </a:xfrm>
          <a:prstGeom prst="chevron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23160" y="2240280"/>
            <a:ext cx="1536192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16352" y="2651760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6352" y="2651760"/>
            <a:ext cx="749808" cy="7498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694176"/>
            <a:ext cx="135331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Digital attendance</a:t>
            </a:r>
          </a:p>
        </p:txBody>
      </p:sp>
      <p:sp>
        <p:nvSpPr>
          <p:cNvPr id="15" name="Chevron 14"/>
          <p:cNvSpPr/>
          <p:nvPr/>
        </p:nvSpPr>
        <p:spPr>
          <a:xfrm>
            <a:off x="4032504" y="3364992"/>
            <a:ext cx="256032" cy="438912"/>
          </a:xfrm>
          <a:prstGeom prst="chevron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52544" y="2240280"/>
            <a:ext cx="1536192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45736" y="2651760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45736" y="2651760"/>
            <a:ext cx="749808" cy="7498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3" y="3694176"/>
            <a:ext cx="135331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WA · K1–K7</a:t>
            </a:r>
          </a:p>
        </p:txBody>
      </p:sp>
      <p:sp>
        <p:nvSpPr>
          <p:cNvPr id="20" name="Chevron 19"/>
          <p:cNvSpPr/>
          <p:nvPr/>
        </p:nvSpPr>
        <p:spPr>
          <a:xfrm>
            <a:off x="5961888" y="3364992"/>
            <a:ext cx="256032" cy="438912"/>
          </a:xfrm>
          <a:prstGeom prst="chevron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81928" y="2240280"/>
            <a:ext cx="1536192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75120" y="2651760"/>
            <a:ext cx="749808" cy="749808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2651760"/>
            <a:ext cx="749808" cy="7498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3694176"/>
            <a:ext cx="135331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PP · A1–A4</a:t>
            </a:r>
          </a:p>
        </p:txBody>
      </p:sp>
      <p:sp>
        <p:nvSpPr>
          <p:cNvPr id="25" name="Chevron 24"/>
          <p:cNvSpPr/>
          <p:nvPr/>
        </p:nvSpPr>
        <p:spPr>
          <a:xfrm>
            <a:off x="7891272" y="3364992"/>
            <a:ext cx="256032" cy="438912"/>
          </a:xfrm>
          <a:prstGeom prst="chevron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11312" y="2240280"/>
            <a:ext cx="1536192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604504" y="2651760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04504" y="2651760"/>
            <a:ext cx="749808" cy="7498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3694176"/>
            <a:ext cx="135331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Submit on LMS</a:t>
            </a:r>
          </a:p>
        </p:txBody>
      </p:sp>
      <p:sp>
        <p:nvSpPr>
          <p:cNvPr id="30" name="Chevron 29"/>
          <p:cNvSpPr/>
          <p:nvPr/>
        </p:nvSpPr>
        <p:spPr>
          <a:xfrm>
            <a:off x="9820656" y="3364992"/>
            <a:ext cx="256032" cy="438912"/>
          </a:xfrm>
          <a:prstGeom prst="chevron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140696" y="2240280"/>
            <a:ext cx="1536192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533888" y="2651760"/>
            <a:ext cx="749808" cy="7498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2651760"/>
            <a:ext cx="749808" cy="7498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32136" y="3694176"/>
            <a:ext cx="1353312" cy="8595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376672"/>
            <a:ext cx="1083564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495544"/>
            <a:ext cx="20116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DECISION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31720" y="5486400"/>
            <a:ext cx="8851392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Competent requires all criteria; appeal intent is recorded when the candidate disagrees.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214</a:t>
            </a:r>
          </a:p>
        </p:txBody>
      </p:sp>
    </p:spTree>
  </p:cSld>
  <p:transition spd="fast">
    <p:fade/>
  </p:transition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CLOSING 3 OF 3 · ASSESSMENT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880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Use the live SSG QR displayed by the trainer.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719072"/>
            <a:ext cx="82296" cy="2880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13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Complete the assessment attendance event.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719072"/>
            <a:ext cx="82296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CONFIRM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Check that the trainer sees the attendance status.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7968" y="1719072"/>
            <a:ext cx="2487168" cy="2880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87968" y="1719072"/>
            <a:ext cx="82296" cy="28803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7424" y="190195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1865376"/>
            <a:ext cx="1591056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PROCEED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414015"/>
            <a:ext cx="1993392" cy="203911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Begin the assessment only after the briefing and attendance step.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215</a:t>
            </a:r>
          </a:p>
        </p:txBody>
      </p:sp>
    </p:spTree>
  </p:cSld>
  <p:transition spd="fast">
    <p:fade/>
  </p:transition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98448"/>
            <a:ext cx="10424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01952"/>
            <a:ext cx="10332720" cy="21945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Build the scene.
Inspect the contract.
Prove the runtime.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608576"/>
            <a:ext cx="1014984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B6372"/>
                </a:solidFill>
                <a:latin typeface="Arial"/>
              </a:rPr>
              <a:t>Questions · reflections · next experiment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216</a:t>
            </a:r>
          </a:p>
        </p:txBody>
      </p:sp>
    </p:spTree>
  </p:cSld>
  <p:transition spd="med">
    <p:push/>
  </p:transition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83564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Login to LMS and Download Course Material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419088"/>
            <a:ext cx="49377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Vibe Coding for Augmented Reality (AR) Applications · TGS-2022017519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6419088"/>
            <a:ext cx="36576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1908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  <p:pic>
        <p:nvPicPr>
          <p:cNvPr id="36" name="Picture 35" descr="ref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6836" y="1431036"/>
            <a:ext cx="8758022" cy="4357116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37" name="TextBox 36"/>
          <p:cNvSpPr txBox="1"/>
          <p:nvPr/>
        </p:nvSpPr>
        <p:spPr>
          <a:xfrm>
            <a:off x="658368" y="5870448"/>
            <a:ext cx="10874959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475569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